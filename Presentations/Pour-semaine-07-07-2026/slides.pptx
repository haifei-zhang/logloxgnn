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5" r:id="rId5"/>
    <p:sldId id="284" r:id="rId6"/>
    <p:sldId id="283" r:id="rId7"/>
    <p:sldId id="287" r:id="rId8"/>
    <p:sldId id="288" r:id="rId9"/>
    <p:sldId id="282" r:id="rId10"/>
    <p:sldId id="277" r:id="rId11"/>
    <p:sldId id="278" r:id="rId12"/>
    <p:sldId id="289" r:id="rId13"/>
    <p:sldId id="290" r:id="rId14"/>
    <p:sldId id="279" r:id="rId15"/>
    <p:sldId id="280" r:id="rId16"/>
    <p:sldId id="28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6CB113-ADF4-F25C-E93C-DA574D39D64D}" v="3075" dt="2026-07-07T08:53:52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97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FE5D-A5F8-0783-B4B5-7F99C79F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7421E-A35D-A546-550F-29809CCDA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C3D7B-1D3C-4D2A-6976-E855D34F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923D-02C4-D3E8-7AF5-ABA92FAC4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43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DD4E-8479-4793-AB47-57F81370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0F613-1AF6-B286-B250-C13EAA529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F21E-AE6E-C8C5-2A0A-5D877E98B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98B32-FD1E-12FE-56C4-3A14F5CEF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04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2A54-5835-5DAB-ECAA-C68F9450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533ED-C688-E4DD-D645-48A3B81E5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8E494-E39C-FDA6-4147-8BDE72117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B2E9D-2500-DFBF-5577-A3A346EF6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2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DBD9-2226-7CCF-1D18-BEA32CCE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B0D14-A469-7F6F-3E17-AE0B094B4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25616-DEC7-0011-C76D-3EAD07C46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B1061-7AD4-D380-624C-481C9472A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42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BDEE-C316-9933-C51D-AE88F9E1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D8EEF-DD54-8FF0-00FD-980F27D66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F587C-FD96-DDD3-9CBE-111A02273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D8984-C0EE-A956-41AB-FEC5DC3B0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83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D594-9BF6-B512-B5E7-0AAA2E80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E2343-30A4-E989-AE64-549BA0D93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67A8B-290E-7F86-D764-5BDBE2ED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2AD58-9A03-A1E0-3E49-CDA04F740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34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9F512-E7C0-96A0-321E-BB84A156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DDAF-EC43-E1D9-27E3-CA04263FB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90FCA-F74C-A2A5-7C8A-E55967A48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FFC02-DCAC-0344-1F12-36C8132EB1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2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29000" y="2528317"/>
            <a:ext cx="2286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Graph Neur</a:t>
            </a:r>
            <a:r>
              <a:rPr lang="en-US" sz="40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al Network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: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>
                <a:solidFill>
                  <a:srgbClr val="22D3EE"/>
                </a:solidFill>
                <a:ea typeface="+mn-lt"/>
                <a:cs typeface="+mn-lt"/>
              </a:rPr>
              <a:t>For Node or graph classification </a:t>
            </a:r>
            <a:endParaRPr lang="fr-FR">
              <a:ea typeface="Calibri"/>
              <a:cs typeface="Calibri"/>
            </a:endParaRPr>
          </a:p>
          <a:p>
            <a:pPr algn="ctr"/>
            <a:endParaRPr lang="en-US" sz="2000" dirty="0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2766061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OUEDRAOGO Fidèle</a:t>
            </a:r>
          </a:p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</a:endParaRPr>
          </a:p>
          <a:p>
            <a:pPr algn="ctr"/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Pr. </a:t>
            </a:r>
            <a:r>
              <a:rPr lang="en-US" sz="1300" dirty="0">
                <a:solidFill>
                  <a:schemeClr val="bg1"/>
                </a:solidFill>
                <a:ea typeface="+mn-lt"/>
                <a:cs typeface="+mn-lt"/>
              </a:rPr>
              <a:t>Christine Largeron</a:t>
            </a: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· Dr. </a:t>
            </a:r>
            <a:r>
              <a:rPr lang="en-US" sz="1300" dirty="0">
                <a:solidFill>
                  <a:schemeClr val="bg1"/>
                </a:solidFill>
                <a:ea typeface="+mn-lt"/>
                <a:cs typeface="+mn-lt"/>
              </a:rPr>
              <a:t>Haifei Zhang</a:t>
            </a:r>
          </a:p>
        </p:txBody>
      </p:sp>
      <p:sp>
        <p:nvSpPr>
          <p:cNvPr id="8" name="Text 6"/>
          <p:cNvSpPr/>
          <p:nvPr/>
        </p:nvSpPr>
        <p:spPr>
          <a:xfrm>
            <a:off x="0" y="4656667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94A3B8"/>
                </a:solidFill>
                <a:ea typeface="+mn-lt"/>
                <a:cs typeface="+mn-lt"/>
              </a:rPr>
              <a:t>Presentation — July 07, 2026</a:t>
            </a:r>
            <a:endParaRPr lang="fr-FR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US" sz="1000" b="1" dirty="0">
                <a:solidFill>
                  <a:srgbClr val="94A3B8"/>
                </a:solidFill>
                <a:ea typeface="+mn-lt"/>
                <a:cs typeface="+mn-lt"/>
              </a:rPr>
              <a:t>Master’s degree (2nd year) in </a:t>
            </a:r>
            <a:r>
              <a:rPr lang="en-US" sz="1000" b="1" dirty="0" err="1">
                <a:solidFill>
                  <a:srgbClr val="94A3B8"/>
                </a:solidFill>
                <a:ea typeface="+mn-lt"/>
                <a:cs typeface="+mn-lt"/>
              </a:rPr>
              <a:t>DataScale</a:t>
            </a:r>
            <a:r>
              <a:rPr lang="en-US" sz="1000" b="1" dirty="0">
                <a:solidFill>
                  <a:srgbClr val="94A3B8"/>
                </a:solidFill>
                <a:ea typeface="+mn-lt"/>
                <a:cs typeface="+mn-lt"/>
              </a:rPr>
              <a:t>/ Jean Monnet University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Context and Motivation</a:t>
            </a:r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Traditional Graph Learning</a:t>
            </a:r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Spectral clustering </a:t>
            </a:r>
            <a:endParaRPr lang="en-US" sz="12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Label propagation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Random Walk (</a:t>
            </a:r>
            <a:r>
              <a:rPr lang="en-US" sz="1200" dirty="0" err="1">
                <a:solidFill>
                  <a:srgbClr val="1E293B"/>
                </a:solidFill>
                <a:ea typeface="+mn-lt"/>
                <a:cs typeface="+mn-lt"/>
              </a:rPr>
              <a:t>DeepWalk</a:t>
            </a: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, Node2Vec) 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Matrix Factorization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Kernel Methods (</a:t>
            </a:r>
            <a:r>
              <a:rPr lang="en-US" sz="1200" dirty="0" err="1">
                <a:solidFill>
                  <a:srgbClr val="1E293B"/>
                </a:solidFill>
                <a:ea typeface="+mn-lt"/>
                <a:cs typeface="+mn-lt"/>
              </a:rPr>
              <a:t>Weisfeiler</a:t>
            </a: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–Lehman Kernel)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73930" y="1097280"/>
            <a:ext cx="40309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7492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EF4444"/>
                </a:solidFill>
                <a:latin typeface="Georgia"/>
                <a:ea typeface="+mn-lt"/>
                <a:cs typeface="+mn-lt"/>
              </a:rPr>
              <a:t>Their Limitations</a:t>
            </a:r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74920" y="1719580"/>
            <a:ext cx="3510280" cy="26238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Require handcrafted features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Limited use of node attributes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Cannot jointly exploit topology and features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Poor generalization to unseen graphs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Limited performance on complex graph learning tasks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 b="1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C2B3CF7-C8BF-8751-543F-0A3C9057B299}"/>
              </a:ext>
            </a:extLst>
          </p:cNvPr>
          <p:cNvSpPr/>
          <p:nvPr/>
        </p:nvSpPr>
        <p:spPr>
          <a:xfrm>
            <a:off x="539262" y="1097280"/>
            <a:ext cx="64008" cy="347472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 Objectives</a:t>
            </a:r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Flèche en cercle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575" y="13487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Reproduct</a:t>
            </a:r>
            <a:r>
              <a:rPr lang="en-US" sz="1200" b="1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ibility</a:t>
            </a:r>
            <a:endParaRPr lang="fr-FR" err="1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>
                <a:solidFill>
                  <a:srgbClr val="64748B"/>
                </a:solidFill>
                <a:ea typeface="+mn-lt"/>
                <a:cs typeface="+mn-lt"/>
              </a:rPr>
              <a:t>Reproduce the original GCN, GAT, and GIN models.</a:t>
            </a:r>
            <a:endParaRPr lang="fr-FR"/>
          </a:p>
          <a:p>
            <a:pPr>
              <a:lnSpc>
                <a:spcPct val="110000"/>
              </a:lnSpc>
            </a:pPr>
            <a:endParaRPr lang="en-US" sz="1000" dirty="0">
              <a:solidFill>
                <a:srgbClr val="64748B"/>
              </a:solidFill>
              <a:ea typeface="+mn-lt"/>
              <a:cs typeface="+mn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6616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Coche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0140" y="1352974"/>
            <a:ext cx="325543" cy="3255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Evaluation</a:t>
            </a:r>
            <a:endParaRPr lang="en-US" sz="1200" b="1" err="1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576743" y="1927436"/>
            <a:ext cx="2183977" cy="65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ea typeface="+mn-lt"/>
                <a:cs typeface="+mn-lt"/>
              </a:rPr>
              <a:t>Evaluate the models on both original and new graph datasets.</a:t>
            </a:r>
            <a:endParaRPr lang="fr-FR"/>
          </a:p>
          <a:p>
            <a:endParaRPr lang="en-US" sz="10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Cerveau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7047" y="1365674"/>
            <a:ext cx="392218" cy="3604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Harmonisation</a:t>
            </a:r>
          </a:p>
        </p:txBody>
      </p:sp>
      <p:sp>
        <p:nvSpPr>
          <p:cNvPr id="17" name="Text 12"/>
          <p:cNvSpPr/>
          <p:nvPr/>
        </p:nvSpPr>
        <p:spPr>
          <a:xfrm>
            <a:off x="6400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ea typeface="+mn-lt"/>
                <a:cs typeface="+mn-lt"/>
              </a:rPr>
              <a:t>Harmonize selected datasets to improve data quality</a:t>
            </a:r>
            <a:endParaRPr lang="fr-FR"/>
          </a:p>
          <a:p>
            <a:endParaRPr lang="en-US" sz="1000" dirty="0">
              <a:solidFill>
                <a:srgbClr val="64748B"/>
              </a:solidFill>
              <a:ea typeface="+mn-lt"/>
              <a:cs typeface="+mn-lt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</a:t>
            </a:r>
            <a:endParaRPr lang="en-US" sz="9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</a:rPr>
              <a:t>Method</a:t>
            </a:r>
            <a:r>
              <a:rPr lang="en-US" sz="3600" b="1" dirty="0">
                <a:solidFill>
                  <a:srgbClr val="FFFFFF"/>
                </a:solidFill>
                <a:latin typeface="Georgia"/>
              </a:rPr>
              <a:t>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4A3B8"/>
                </a:solidFill>
                <a:ea typeface="+mn-lt"/>
                <a:cs typeface="+mn-lt"/>
              </a:rPr>
              <a:t>Node Classification (GNN) &amp; Evaluation &amp; </a:t>
            </a:r>
            <a:r>
              <a:rPr lang="en-US" sz="1600" dirty="0" err="1">
                <a:solidFill>
                  <a:srgbClr val="94A3B8"/>
                </a:solidFill>
                <a:ea typeface="+mn-lt"/>
                <a:cs typeface="+mn-lt"/>
              </a:rPr>
              <a:t>Harmonisation</a:t>
            </a:r>
            <a:endParaRPr lang="en-US" sz="1600" dirty="0" err="1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A1484-E938-6C65-1637-7D6F2AE9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FA5E67-1663-90E0-F223-198926DDBADA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GNNs</a:t>
            </a:r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6099EB-5B6F-29E7-8E3A-34170A35246D}"/>
              </a:ext>
            </a:extLst>
          </p:cNvPr>
          <p:cNvSpPr/>
          <p:nvPr/>
        </p:nvSpPr>
        <p:spPr>
          <a:xfrm>
            <a:off x="491490" y="942975"/>
            <a:ext cx="3897630" cy="1438275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D0CECE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B0FD28-2C83-C509-AE9D-FFEDC5707D0E}"/>
              </a:ext>
            </a:extLst>
          </p:cNvPr>
          <p:cNvSpPr/>
          <p:nvPr/>
        </p:nvSpPr>
        <p:spPr>
          <a:xfrm>
            <a:off x="731520" y="9677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300" b="1">
                <a:solidFill>
                  <a:srgbClr val="EF4444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1F1B76-E50C-5E9C-61CE-08A49B8FA1FF}"/>
              </a:ext>
            </a:extLst>
          </p:cNvPr>
          <p:cNvSpPr/>
          <p:nvPr/>
        </p:nvSpPr>
        <p:spPr>
          <a:xfrm>
            <a:off x="731520" y="116205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1E293B"/>
                </a:solidFill>
                <a:ea typeface="+mn-lt"/>
                <a:cs typeface="+mn-lt"/>
              </a:rPr>
              <a:t>Graph Neural Networks (GNNs) are deep learning models designed to learn from graph-structured data by aggregating information from neighboring nodes.</a:t>
            </a:r>
            <a:endParaRPr lang="fr-FR"/>
          </a:p>
          <a:p>
            <a:pPr>
              <a:spcAft>
                <a:spcPts val="4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5BD91C-F839-9D1B-1511-BE7BE91CB5D8}"/>
              </a:ext>
            </a:extLst>
          </p:cNvPr>
          <p:cNvSpPr/>
          <p:nvPr/>
        </p:nvSpPr>
        <p:spPr>
          <a:xfrm>
            <a:off x="4678680" y="942975"/>
            <a:ext cx="3992880" cy="144780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2430D6-05DB-6411-AB93-8E1E0AB27320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10B981"/>
                </a:solidFill>
                <a:latin typeface="Georgia"/>
                <a:ea typeface="+mn-lt"/>
                <a:cs typeface="+mn-lt"/>
              </a:rPr>
              <a:t>Types of GNNs</a:t>
            </a:r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DB451B-06A4-FEED-2135-11AA038F07E6}"/>
              </a:ext>
            </a:extLst>
          </p:cNvPr>
          <p:cNvSpPr/>
          <p:nvPr/>
        </p:nvSpPr>
        <p:spPr>
          <a:xfrm>
            <a:off x="493776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ea typeface="Calibri"/>
                <a:cs typeface="Calibri"/>
              </a:rPr>
              <a:t>Graph Convolutional Network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ea typeface="Calibri"/>
                <a:cs typeface="Calibri"/>
              </a:rPr>
              <a:t>Graph Attention Netwo</a:t>
            </a: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rk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Graph </a:t>
            </a:r>
            <a:r>
              <a:rPr lang="en-US" sz="1050" dirty="0" err="1">
                <a:solidFill>
                  <a:srgbClr val="1E293B"/>
                </a:solidFill>
                <a:ea typeface="Calibri"/>
                <a:cs typeface="Calibri"/>
              </a:rPr>
              <a:t>Isomophism</a:t>
            </a: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 Network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 dirty="0" err="1">
                <a:solidFill>
                  <a:srgbClr val="1E293B"/>
                </a:solidFill>
                <a:ea typeface="Calibri"/>
                <a:cs typeface="Calibri"/>
              </a:rPr>
              <a:t>GraphSage</a:t>
            </a: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E293B"/>
                </a:solidFill>
                <a:ea typeface="Calibri"/>
                <a:cs typeface="Calibri"/>
              </a:rPr>
              <a:t>etc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EF74BF-1597-1F5F-EA72-3AD6779ED82C}"/>
              </a:ext>
            </a:extLst>
          </p:cNvPr>
          <p:cNvSpPr/>
          <p:nvPr/>
        </p:nvSpPr>
        <p:spPr>
          <a:xfrm>
            <a:off x="462915" y="2621280"/>
            <a:ext cx="3960495" cy="193167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770CFD-4B2C-AE18-805D-926B8197F409}"/>
              </a:ext>
            </a:extLst>
          </p:cNvPr>
          <p:cNvSpPr/>
          <p:nvPr/>
        </p:nvSpPr>
        <p:spPr>
          <a:xfrm flipV="1">
            <a:off x="491490" y="2486025"/>
            <a:ext cx="3903345" cy="97155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F1B5B3-926A-91AB-263D-D85D4CD68BE6}"/>
              </a:ext>
            </a:extLst>
          </p:cNvPr>
          <p:cNvSpPr/>
          <p:nvPr/>
        </p:nvSpPr>
        <p:spPr>
          <a:xfrm>
            <a:off x="487680" y="261747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0F2B46"/>
                </a:solidFill>
                <a:latin typeface="Georgia"/>
                <a:ea typeface="Georgia" pitchFamily="34" charset="-122"/>
                <a:cs typeface="Georgia" pitchFamily="34" charset="-120"/>
              </a:rPr>
              <a:t>🟦 </a:t>
            </a:r>
            <a:r>
              <a:rPr lang="en-US" sz="11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Idea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8059AD-F47C-0C3E-43E6-CB43A9289E3E}"/>
              </a:ext>
            </a:extLst>
          </p:cNvPr>
          <p:cNvSpPr/>
          <p:nvPr/>
        </p:nvSpPr>
        <p:spPr>
          <a:xfrm>
            <a:off x="592455" y="2889885"/>
            <a:ext cx="2482215" cy="1609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Message Passing</a:t>
            </a:r>
            <a:endParaRPr lang="en-US" sz="900">
              <a:solidFill>
                <a:srgbClr val="1E293B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:</a:t>
            </a:r>
            <a:endParaRPr lang="en-US" sz="900" dirty="0">
              <a:solidFill>
                <a:srgbClr val="1E293B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AGGREGATE   </a:t>
            </a:r>
          </a:p>
          <a:p>
            <a:pPr marL="171450" indent="-171450">
              <a:buFont typeface="Arial"/>
              <a:buChar char="•"/>
            </a:pPr>
            <a:endParaRPr lang="en-US" sz="900" dirty="0">
              <a:solidFill>
                <a:srgbClr val="1E293B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UPDATE</a:t>
            </a:r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70DBE3B-27F4-2698-E7C5-942C65FEE4EE}"/>
              </a:ext>
            </a:extLst>
          </p:cNvPr>
          <p:cNvSpPr/>
          <p:nvPr/>
        </p:nvSpPr>
        <p:spPr>
          <a:xfrm>
            <a:off x="4674870" y="2564130"/>
            <a:ext cx="3989070" cy="196977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CB0B50E-CCF0-7F95-F285-945BC072C1DB}"/>
              </a:ext>
            </a:extLst>
          </p:cNvPr>
          <p:cNvSpPr/>
          <p:nvPr/>
        </p:nvSpPr>
        <p:spPr>
          <a:xfrm>
            <a:off x="4674870" y="2487930"/>
            <a:ext cx="4027170" cy="838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F3E4937-2287-F66E-3E5F-B8F243FA23D6}"/>
              </a:ext>
            </a:extLst>
          </p:cNvPr>
          <p:cNvSpPr/>
          <p:nvPr/>
        </p:nvSpPr>
        <p:spPr>
          <a:xfrm>
            <a:off x="5699760" y="258889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0F2B46"/>
                </a:solidFill>
                <a:latin typeface="Georgia"/>
                <a:ea typeface="Georgia" pitchFamily="34" charset="-122"/>
                <a:cs typeface="Georgia" pitchFamily="34" charset="-120"/>
              </a:rPr>
              <a:t>🟩Formula</a:t>
            </a:r>
            <a:endParaRPr lang="en-US" sz="1100">
              <a:solidFill>
                <a:srgbClr val="0F2B46"/>
              </a:solidFill>
              <a:ea typeface="Calibri"/>
              <a:cs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1C79147-BE7C-0811-E9D1-1DD2FB8462F8}"/>
              </a:ext>
            </a:extLst>
          </p:cNvPr>
          <p:cNvSpPr/>
          <p:nvPr/>
        </p:nvSpPr>
        <p:spPr>
          <a:xfrm>
            <a:off x="4918710" y="2861310"/>
            <a:ext cx="3491865" cy="1504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A2D1F8-1E02-B499-2FF9-37F85D6CAAFD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33B3699-33D9-C864-050E-AC037B114EE2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100BEFC-B15E-B94E-BF98-352C33EB7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85" y="3512003"/>
            <a:ext cx="3140528" cy="32385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8F5DFF8-033B-0222-045C-CD27970AC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167" y="3843338"/>
            <a:ext cx="2486026" cy="33609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92754A9-AC34-720E-F6AE-5542EED4F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712" y="2834369"/>
            <a:ext cx="3533775" cy="6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7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4DA7E-AE26-C384-4313-CDB4212B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F17194-F699-7423-6E68-9CD51E526AA3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GCN</a:t>
            </a:r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DF7710-E9A4-5CAB-2759-8624C349F68C}"/>
              </a:ext>
            </a:extLst>
          </p:cNvPr>
          <p:cNvSpPr/>
          <p:nvPr/>
        </p:nvSpPr>
        <p:spPr>
          <a:xfrm>
            <a:off x="54864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D2ED3E-782B-5A9A-E412-2FAFB74E42D8}"/>
              </a:ext>
            </a:extLst>
          </p:cNvPr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BA2D37-7902-D4B2-1C74-25F698EFB311}"/>
              </a:ext>
            </a:extLst>
          </p:cNvPr>
          <p:cNvSpPr/>
          <p:nvPr/>
        </p:nvSpPr>
        <p:spPr>
          <a:xfrm>
            <a:off x="731520" y="1282700"/>
            <a:ext cx="3629660" cy="159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GCN extends GNNs by performing convolution operations on graph structures.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It aggregates information from neighboring nodes using a normalized adjacency matrix.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Each node representation is updated by combining its own features with neighborhood information.</a:t>
            </a:r>
            <a:endParaRPr lang="en-US"/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7BE3FD5-F983-0055-DF5F-A7FB641351A9}"/>
              </a:ext>
            </a:extLst>
          </p:cNvPr>
          <p:cNvSpPr/>
          <p:nvPr/>
        </p:nvSpPr>
        <p:spPr>
          <a:xfrm>
            <a:off x="4754880" y="91440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D527D8-BAF1-AF6E-12D0-08720BD39931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Formula</a:t>
            </a:r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3211FC-9F54-6DBF-4980-E041FC2F03EC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682393-FE74-14DA-B73D-0AEA4B9DEB1B}"/>
              </a:ext>
            </a:extLst>
          </p:cNvPr>
          <p:cNvSpPr/>
          <p:nvPr/>
        </p:nvSpPr>
        <p:spPr>
          <a:xfrm>
            <a:off x="548640" y="3154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Modeling</a:t>
            </a:r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810DE5-67C7-5D0E-85D0-EA3D3D6102C8}"/>
              </a:ext>
            </a:extLst>
          </p:cNvPr>
          <p:cNvSpPr/>
          <p:nvPr/>
        </p:nvSpPr>
        <p:spPr>
          <a:xfrm>
            <a:off x="548640" y="3566160"/>
            <a:ext cx="1234440" cy="822960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50B42F-D467-5683-5058-4E07799DC9CA}"/>
              </a:ext>
            </a:extLst>
          </p:cNvPr>
          <p:cNvSpPr/>
          <p:nvPr/>
        </p:nvSpPr>
        <p:spPr>
          <a:xfrm>
            <a:off x="548640" y="35661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message passing</a:t>
            </a:r>
            <a:endParaRPr lang="fr-F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5D48D90-4219-2FFF-7EE1-D45E0770590C}"/>
              </a:ext>
            </a:extLst>
          </p:cNvPr>
          <p:cNvSpPr/>
          <p:nvPr/>
        </p:nvSpPr>
        <p:spPr>
          <a:xfrm>
            <a:off x="2897293" y="3619077"/>
            <a:ext cx="1234440" cy="822960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5EE956C-2813-3B72-DE02-BB5AF6983B1B}"/>
              </a:ext>
            </a:extLst>
          </p:cNvPr>
          <p:cNvSpPr/>
          <p:nvPr/>
        </p:nvSpPr>
        <p:spPr>
          <a:xfrm>
            <a:off x="2844377" y="3587327"/>
            <a:ext cx="1340273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self-loop aggregation</a:t>
            </a:r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1A513C-0066-445A-0459-B3A4405D26A6}"/>
              </a:ext>
            </a:extLst>
          </p:cNvPr>
          <p:cNvSpPr/>
          <p:nvPr/>
        </p:nvSpPr>
        <p:spPr>
          <a:xfrm>
            <a:off x="5171863" y="3619077"/>
            <a:ext cx="1234440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7D0A82E-FFE3-C14E-B96B-FE27DF00FF2E}"/>
              </a:ext>
            </a:extLst>
          </p:cNvPr>
          <p:cNvSpPr/>
          <p:nvPr/>
        </p:nvSpPr>
        <p:spPr>
          <a:xfrm>
            <a:off x="5171863" y="35661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degree normalization</a:t>
            </a:r>
            <a:endParaRPr lang="fr-F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5FE41AD-85DC-6536-19D9-AD03DF749314}"/>
              </a:ext>
            </a:extLst>
          </p:cNvPr>
          <p:cNvSpPr/>
          <p:nvPr/>
        </p:nvSpPr>
        <p:spPr>
          <a:xfrm>
            <a:off x="7372350" y="3619077"/>
            <a:ext cx="1234440" cy="822960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7B6689D-2806-B6FD-60B3-02B3B637FA3B}"/>
              </a:ext>
            </a:extLst>
          </p:cNvPr>
          <p:cNvSpPr/>
          <p:nvPr/>
        </p:nvSpPr>
        <p:spPr>
          <a:xfrm>
            <a:off x="7372350" y="3619077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ea typeface="+mn-lt"/>
                <a:cs typeface="+mn-lt"/>
              </a:rPr>
              <a:t>feature transformation}</a:t>
            </a:r>
            <a:endParaRPr lang="fr-FR" dirty="0">
              <a:ea typeface="+mn-lt"/>
              <a:cs typeface="+mn-lt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F8ADEF6-66A2-9425-9C57-93B5BFD04971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C4A9EB2-DEC9-AB60-8565-931FF83DA8D4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BC6C03-DC69-F4A3-AC8E-C3BF522F9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848" y="1383167"/>
            <a:ext cx="3267076" cy="11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9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FA8C8-55AE-1BFE-AFFF-B469B7D2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7CAE28-67D4-B1BE-DCBC-7FBE1BC3C9A9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GAT</a:t>
            </a:r>
            <a:endParaRPr lang="en-US" sz="22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32A636-2D51-FCE6-E316-AFDDEEB2DCBB}"/>
              </a:ext>
            </a:extLst>
          </p:cNvPr>
          <p:cNvSpPr/>
          <p:nvPr/>
        </p:nvSpPr>
        <p:spPr>
          <a:xfrm>
            <a:off x="54864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245B5C-0612-19DA-3A53-DB6FCB8F92B2}"/>
              </a:ext>
            </a:extLst>
          </p:cNvPr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5D20CF-3816-B7CC-35EF-2D9BF10FCC19}"/>
              </a:ext>
            </a:extLst>
          </p:cNvPr>
          <p:cNvSpPr/>
          <p:nvPr/>
        </p:nvSpPr>
        <p:spPr>
          <a:xfrm>
            <a:off x="731520" y="1282700"/>
            <a:ext cx="3629660" cy="159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GAT extends GCN by introducing a learnable attention mechanism.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Each neighbor receives an importance weight during message aggregation. </a:t>
            </a:r>
            <a:endParaRPr lang="en-US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Unlike GCN, all neighbors are not treated equally.</a:t>
            </a:r>
            <a:endParaRPr lang="en-US"/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336863-A54A-964F-4860-4C37F598C5D8}"/>
              </a:ext>
            </a:extLst>
          </p:cNvPr>
          <p:cNvSpPr/>
          <p:nvPr/>
        </p:nvSpPr>
        <p:spPr>
          <a:xfrm>
            <a:off x="4754880" y="91440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70C6D9-68CC-48F2-6B85-7C7631C571FE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Formula</a:t>
            </a:r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26C1D9-616E-0017-C49F-70FE7175D7AF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A822DF4-37F3-CA7C-0BB7-75CD5051CF45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D9D0DBF-76BC-EBA7-443C-E89638D9F7CF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0F5CC8C-0712-4A5C-9BBB-A6AD67550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816" y="1434193"/>
            <a:ext cx="3933826" cy="114844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D4E5E2CE-0399-A1E5-F176-20A96C14E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28" y="3418115"/>
            <a:ext cx="3581400" cy="1181100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5134E534-DAF7-74D2-9274-78A5B2C1B01D}"/>
              </a:ext>
            </a:extLst>
          </p:cNvPr>
          <p:cNvSpPr/>
          <p:nvPr/>
        </p:nvSpPr>
        <p:spPr>
          <a:xfrm>
            <a:off x="2177" y="309589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Node update:</a:t>
            </a:r>
            <a:endParaRPr lang="fr-FR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03E5D83D-36CA-B588-4FB9-4E44897046E4}"/>
              </a:ext>
            </a:extLst>
          </p:cNvPr>
          <p:cNvSpPr/>
          <p:nvPr/>
        </p:nvSpPr>
        <p:spPr>
          <a:xfrm>
            <a:off x="4133305" y="3253740"/>
            <a:ext cx="3657600" cy="162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Key difference with GCN</a:t>
            </a:r>
            <a:endParaRPr lang="en-US" sz="1400" b="1" dirty="0">
              <a:solidFill>
                <a:srgbClr val="0F2B46"/>
              </a:solidFill>
              <a:latin typeface="Georgia"/>
              <a:ea typeface="+mn-lt"/>
              <a:cs typeface="+mn-lt"/>
            </a:endParaRPr>
          </a:p>
          <a:p>
            <a:pPr algn="ctr"/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23CB2329-990E-D666-787F-35A1DD4AC26B}"/>
              </a:ext>
            </a:extLst>
          </p:cNvPr>
          <p:cNvSpPr/>
          <p:nvPr/>
        </p:nvSpPr>
        <p:spPr>
          <a:xfrm>
            <a:off x="4133305" y="3563982"/>
            <a:ext cx="3657600" cy="89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0F2B46"/>
                </a:solidFill>
                <a:ea typeface="+mn-lt"/>
                <a:cs typeface="+mn-lt"/>
              </a:rPr>
              <a:t>• GCN: fixed normalization weights based on graph structure, </a:t>
            </a:r>
            <a:endParaRPr lang="fr-FR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0F2B46"/>
                </a:solidFill>
                <a:ea typeface="+mn-lt"/>
                <a:cs typeface="+mn-lt"/>
              </a:rPr>
              <a:t>• GAT: adaptive weights learned through attention</a:t>
            </a:r>
            <a:endParaRPr lang="fr-F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762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25A93-69F3-F254-16FD-A83FD9C2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C9F4A8-2EF0-E1B1-4289-FBA25B3EFD54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GIN</a:t>
            </a:r>
            <a:endParaRPr lang="en-US" sz="22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87093D-C236-F598-20F6-F086B5696E33}"/>
              </a:ext>
            </a:extLst>
          </p:cNvPr>
          <p:cNvSpPr/>
          <p:nvPr/>
        </p:nvSpPr>
        <p:spPr>
          <a:xfrm>
            <a:off x="54864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9D96BF-69BE-BE60-E519-671CB1D66FD9}"/>
              </a:ext>
            </a:extLst>
          </p:cNvPr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198554-0F08-848A-0D27-E1BA2F8C2B97}"/>
              </a:ext>
            </a:extLst>
          </p:cNvPr>
          <p:cNvSpPr/>
          <p:nvPr/>
        </p:nvSpPr>
        <p:spPr>
          <a:xfrm>
            <a:off x="731520" y="1282700"/>
            <a:ext cx="3798387" cy="1673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GIN aims to maximize the expressive power of Graph Neural Networks.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It uses sum aggregation to better distinguish different graph structures. </a:t>
            </a:r>
            <a:endParaRPr lang="en-US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Unlike GCN/GAT, GIN combines neighborhood aggregation with an MLP.</a:t>
            </a:r>
            <a:endParaRPr lang="en-US"/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AC3C9F-F5DA-2965-C9DE-A754CC691E20}"/>
              </a:ext>
            </a:extLst>
          </p:cNvPr>
          <p:cNvSpPr/>
          <p:nvPr/>
        </p:nvSpPr>
        <p:spPr>
          <a:xfrm>
            <a:off x="4754880" y="91440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183678-2B89-9A53-7E71-E1359C7233C4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Node update rule:</a:t>
            </a:r>
            <a:endParaRPr lang="fr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B48B51-FCF3-47C7-405D-4749535E0C9F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5A8B101-696B-B953-CA36-1E34659FCEC2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800587C-D45F-B7FF-8EB0-261A9146431F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389FB84-95EF-5F1D-311C-26AF939EF49C}"/>
              </a:ext>
            </a:extLst>
          </p:cNvPr>
          <p:cNvSpPr/>
          <p:nvPr/>
        </p:nvSpPr>
        <p:spPr>
          <a:xfrm>
            <a:off x="2177" y="309589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 representation:</a:t>
            </a:r>
            <a:endParaRPr lang="fr-FR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8F7309F-9013-CF06-55C4-FD93D2EC6C11}"/>
              </a:ext>
            </a:extLst>
          </p:cNvPr>
          <p:cNvSpPr/>
          <p:nvPr/>
        </p:nvSpPr>
        <p:spPr>
          <a:xfrm>
            <a:off x="4133305" y="3253740"/>
            <a:ext cx="3657600" cy="162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Key idea</a:t>
            </a:r>
            <a:endParaRPr lang="en-US" sz="1400" b="1" dirty="0">
              <a:solidFill>
                <a:srgbClr val="0F2B46"/>
              </a:solidFill>
              <a:latin typeface="Georgia"/>
              <a:ea typeface="+mn-lt"/>
              <a:cs typeface="+mn-lt"/>
            </a:endParaRPr>
          </a:p>
          <a:p>
            <a:pPr algn="ctr"/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4EB4A38-D7D2-6717-362B-D5FE0D17BDD1}"/>
              </a:ext>
            </a:extLst>
          </p:cNvPr>
          <p:cNvSpPr/>
          <p:nvPr/>
        </p:nvSpPr>
        <p:spPr>
          <a:xfrm>
            <a:off x="4661262" y="3259182"/>
            <a:ext cx="3657600" cy="89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F2B46"/>
                </a:solidFill>
                <a:ea typeface="+mn-lt"/>
                <a:cs typeface="+mn-lt"/>
              </a:rPr>
              <a:t>GIN approximates the discriminative power of the </a:t>
            </a:r>
            <a:r>
              <a:rPr lang="en-US" sz="1400" dirty="0" err="1">
                <a:solidFill>
                  <a:srgbClr val="0F2B46"/>
                </a:solidFill>
                <a:ea typeface="+mn-lt"/>
                <a:cs typeface="+mn-lt"/>
              </a:rPr>
              <a:t>Weisfeiler</a:t>
            </a:r>
            <a:r>
              <a:rPr lang="en-US" sz="1400" dirty="0">
                <a:solidFill>
                  <a:srgbClr val="0F2B46"/>
                </a:solidFill>
                <a:ea typeface="+mn-lt"/>
                <a:cs typeface="+mn-lt"/>
              </a:rPr>
              <a:t>-Lehman graph isomorphism test.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633C95-231A-9A66-4488-A9737569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80" y="1458006"/>
            <a:ext cx="3801839" cy="110625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4374F6F-17D9-99F2-09C0-A735156E5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70" y="3566432"/>
            <a:ext cx="3499762" cy="5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6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1349E-0E51-1229-F48D-94B79C43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CA2060-EECD-1574-255F-864F52B4B87D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</a:rPr>
              <a:t>Datasets  &amp; Metric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DE5EDC-359D-25E5-6DA9-90C3410069A2}"/>
              </a:ext>
            </a:extLst>
          </p:cNvPr>
          <p:cNvSpPr/>
          <p:nvPr/>
        </p:nvSpPr>
        <p:spPr>
          <a:xfrm>
            <a:off x="548640" y="91440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F71A65-BE98-C33B-F404-6B450BBB7233}"/>
              </a:ext>
            </a:extLst>
          </p:cNvPr>
          <p:cNvSpPr/>
          <p:nvPr/>
        </p:nvSpPr>
        <p:spPr>
          <a:xfrm>
            <a:off x="548640" y="9144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6A375E-F37D-D4F3-CCA3-57F5C8B429F6}"/>
              </a:ext>
            </a:extLst>
          </p:cNvPr>
          <p:cNvSpPr/>
          <p:nvPr/>
        </p:nvSpPr>
        <p:spPr>
          <a:xfrm>
            <a:off x="6858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Citation Networks (Node Classification — GCN &amp; GAT)</a:t>
            </a:r>
            <a:endParaRPr lang="fr-FR" sz="800"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689C56-4462-3ECD-D3C0-B2A2E9E6F2DD}"/>
              </a:ext>
            </a:extLst>
          </p:cNvPr>
          <p:cNvSpPr/>
          <p:nvPr/>
        </p:nvSpPr>
        <p:spPr>
          <a:xfrm>
            <a:off x="68580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800">
                <a:solidFill>
                  <a:srgbClr val="64748B"/>
                </a:solidFill>
                <a:ea typeface="+mn-lt"/>
                <a:cs typeface="+mn-lt"/>
              </a:rPr>
              <a:t>Cora (2708 nodes, 5278 edges, 1433 features, 7 </a:t>
            </a:r>
            <a:r>
              <a:rPr lang="en-US" sz="800" dirty="0">
                <a:solidFill>
                  <a:srgbClr val="64748B"/>
                </a:solidFill>
                <a:ea typeface="+mn-lt"/>
                <a:cs typeface="+mn-lt"/>
              </a:rPr>
              <a:t>classes)</a:t>
            </a:r>
            <a:endParaRPr lang="en-US" sz="800" dirty="0">
              <a:ea typeface="+mn-lt"/>
              <a:cs typeface="+mn-lt"/>
            </a:endParaRPr>
          </a:p>
          <a:p>
            <a:pPr>
              <a:lnSpc>
                <a:spcPct val="125000"/>
              </a:lnSpc>
            </a:pPr>
            <a:r>
              <a:rPr lang="en-US" sz="800" dirty="0" err="1">
                <a:solidFill>
                  <a:srgbClr val="64748B"/>
                </a:solidFill>
                <a:ea typeface="+mn-lt"/>
                <a:cs typeface="+mn-lt"/>
              </a:rPr>
              <a:t>CiteSeer</a:t>
            </a:r>
            <a:r>
              <a:rPr lang="en-US" sz="800" dirty="0">
                <a:solidFill>
                  <a:srgbClr val="64748B"/>
                </a:solidFill>
                <a:ea typeface="+mn-lt"/>
                <a:cs typeface="+mn-lt"/>
              </a:rPr>
              <a:t> (3327 nodes, 4552 edges, 3703 features, 6 classes)</a:t>
            </a:r>
            <a:endParaRPr lang="en-US" sz="800" dirty="0">
              <a:ea typeface="+mn-lt"/>
              <a:cs typeface="+mn-lt"/>
            </a:endParaRPr>
          </a:p>
          <a:p>
            <a:pPr>
              <a:lnSpc>
                <a:spcPct val="125000"/>
              </a:lnSpc>
            </a:pPr>
            <a:r>
              <a:rPr lang="en-US" sz="800">
                <a:solidFill>
                  <a:srgbClr val="64748B"/>
                </a:solidFill>
                <a:ea typeface="+mn-lt"/>
                <a:cs typeface="+mn-lt"/>
              </a:rPr>
              <a:t>PubMed (19717 nodes, 44324 edges, 500 features, 3 </a:t>
            </a:r>
            <a:r>
              <a:rPr lang="en-US" sz="800" dirty="0">
                <a:solidFill>
                  <a:srgbClr val="64748B"/>
                </a:solidFill>
                <a:ea typeface="+mn-lt"/>
                <a:cs typeface="+mn-lt"/>
              </a:rPr>
              <a:t>classes)</a:t>
            </a:r>
            <a:br>
              <a:rPr lang="en-US" sz="800" dirty="0">
                <a:ea typeface="+mn-lt"/>
                <a:cs typeface="+mn-lt"/>
              </a:rPr>
            </a:br>
            <a:endParaRPr lang="en-US" sz="800" dirty="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8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753B68-2C21-196D-4D63-E12B49C13F34}"/>
              </a:ext>
            </a:extLst>
          </p:cNvPr>
          <p:cNvSpPr/>
          <p:nvPr/>
        </p:nvSpPr>
        <p:spPr>
          <a:xfrm>
            <a:off x="3383280" y="919842"/>
            <a:ext cx="2560320" cy="36205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D447C0-E35B-ED79-D922-0B74CE408B07}"/>
              </a:ext>
            </a:extLst>
          </p:cNvPr>
          <p:cNvSpPr/>
          <p:nvPr/>
        </p:nvSpPr>
        <p:spPr>
          <a:xfrm>
            <a:off x="3383280" y="91440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70423B-F2A4-1D95-9037-4778EAD22E3C}"/>
              </a:ext>
            </a:extLst>
          </p:cNvPr>
          <p:cNvSpPr/>
          <p:nvPr/>
        </p:nvSpPr>
        <p:spPr>
          <a:xfrm>
            <a:off x="35204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 Classification Benchmarks (GIN)</a:t>
            </a:r>
            <a:endParaRPr lang="fr-FR" sz="90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900" b="1" dirty="0">
              <a:solidFill>
                <a:srgbClr val="0F2B46"/>
              </a:solidFill>
              <a:latin typeface="Georgi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E0D06B-BBDA-E02D-40AE-729DC649730A}"/>
              </a:ext>
            </a:extLst>
          </p:cNvPr>
          <p:cNvSpPr/>
          <p:nvPr/>
        </p:nvSpPr>
        <p:spPr>
          <a:xfrm>
            <a:off x="3520440" y="1400992"/>
            <a:ext cx="2286000" cy="2664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IMDB-BINARY (1000 graphs, 2 classes, 19.8 avg. nodes) 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IMDB-MULTI (1500 graphs, 3 classes, 13.0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REDDIT-BINARY (2000 graphs, 2 classes, 429.6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REDDIT-MULTI-5K (5000 graphs, 5 classes, 508.5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COLLAB (5000 graphs, 3 classes, 74.5 avg. nodes) 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MUTAG (188 graphs, 2 classes, 17.9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PROTEINS (1113 graphs, 2 classes, 39.1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PTC (344 graphs, 2 classes, 25.5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NCI1 (4110 graphs, 2 classes, 29.8 avg. nodes)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00" b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5AA64F-4C62-29EA-6F1C-2D8A6111024E}"/>
              </a:ext>
            </a:extLst>
          </p:cNvPr>
          <p:cNvSpPr/>
          <p:nvPr/>
        </p:nvSpPr>
        <p:spPr>
          <a:xfrm>
            <a:off x="6217920" y="925285"/>
            <a:ext cx="2560320" cy="36586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9DC34E4-3868-35EC-F074-1DAE08DEFB90}"/>
              </a:ext>
            </a:extLst>
          </p:cNvPr>
          <p:cNvSpPr/>
          <p:nvPr/>
        </p:nvSpPr>
        <p:spPr>
          <a:xfrm>
            <a:off x="6217920" y="914400"/>
            <a:ext cx="2560320" cy="54864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1402A7-EC44-9A35-8B5A-DFD56B919E70}"/>
              </a:ext>
            </a:extLst>
          </p:cNvPr>
          <p:cNvSpPr/>
          <p:nvPr/>
        </p:nvSpPr>
        <p:spPr>
          <a:xfrm>
            <a:off x="635508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Additional Real-world and Heterophilic Datasets (GCN &amp; GAT)</a:t>
            </a:r>
            <a:endParaRPr lang="fr-FR" sz="900"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E57185-D748-BD20-9AB4-8A694380AB33}"/>
              </a:ext>
            </a:extLst>
          </p:cNvPr>
          <p:cNvSpPr/>
          <p:nvPr/>
        </p:nvSpPr>
        <p:spPr>
          <a:xfrm>
            <a:off x="6382296" y="1417320"/>
            <a:ext cx="2302327" cy="283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Cornell (183 nodes, 280 edges, 5 classes)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Texas (183 nodes, 295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Wisconsin (251 nodes, 466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Chameleon (2277 nodes, 31421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Squirrel (5201 nodes, 198493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Actor (7600 nodes, 26752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Roman-Empire (22662 nodes, 32927 edges, 18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Amazon-Ratings (24492 nodes, 93050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Minesweeper (10000 nodes, 39402 edges, 2 classes)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 dirty="0" err="1">
                <a:solidFill>
                  <a:srgbClr val="64748B"/>
                </a:solidFill>
                <a:ea typeface="+mn-lt"/>
                <a:cs typeface="+mn-lt"/>
              </a:rPr>
              <a:t>Tolokers</a:t>
            </a:r>
            <a:r>
              <a:rPr lang="en-US" sz="900" dirty="0">
                <a:solidFill>
                  <a:srgbClr val="64748B"/>
                </a:solidFill>
                <a:ea typeface="+mn-lt"/>
                <a:cs typeface="+mn-lt"/>
              </a:rPr>
              <a:t> (11758 nodes, 519000 edges, 2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Questions (48921 nodes, 153540 edges, 2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BCBAD5A-534A-8E78-0F9C-A0040EFC7710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445CBA-01F1-E747-9112-6732C645B640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GNNs For the </a:t>
            </a:r>
            <a:r>
              <a:rPr lang="en-US" sz="900" dirty="0" err="1">
                <a:solidFill>
                  <a:srgbClr val="94A3B8"/>
                </a:solidFill>
                <a:ea typeface="Calibri"/>
                <a:cs typeface="Calibri"/>
              </a:rPr>
              <a:t>reproductibility</a:t>
            </a:r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 we use Docker</a:t>
            </a: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D53517B4-1620-55D4-CC88-81602149645D}"/>
              </a:ext>
            </a:extLst>
          </p:cNvPr>
          <p:cNvSpPr/>
          <p:nvPr/>
        </p:nvSpPr>
        <p:spPr>
          <a:xfrm>
            <a:off x="522635" y="2947047"/>
            <a:ext cx="2603863" cy="1597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28773135-FFA9-1541-DE2A-CDDE8A9E089F}"/>
              </a:ext>
            </a:extLst>
          </p:cNvPr>
          <p:cNvSpPr/>
          <p:nvPr/>
        </p:nvSpPr>
        <p:spPr>
          <a:xfrm>
            <a:off x="458712" y="324285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</a:rPr>
              <a:t>Metric</a:t>
            </a:r>
            <a:endParaRPr lang="en-US" sz="1200" b="1" dirty="0">
              <a:solidFill>
                <a:srgbClr val="0F2B46"/>
              </a:solidFill>
              <a:latin typeface="Georgia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AB481F9-EDE1-8B64-3EFE-2FF1C6806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3562350"/>
            <a:ext cx="2498275" cy="51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74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Evaluation &amp; Results</a:t>
            </a:r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94A3B8"/>
                </a:solidFill>
                <a:ea typeface="+mn-lt"/>
                <a:cs typeface="+mn-lt"/>
              </a:rPr>
              <a:t>23  datasets · node classification models (GAT/GCN/GIN) · 1 metric </a:t>
            </a:r>
            <a:endParaRPr lang="en-US" sz="16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Accuracy  ↑-GCN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6337" y="4415795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i="1" dirty="0">
                <a:solidFill>
                  <a:srgbClr val="64748B"/>
                </a:solidFill>
                <a:ea typeface="+mn-lt"/>
                <a:cs typeface="+mn-lt"/>
              </a:rPr>
              <a:t>.The same results for the reproducibility , </a:t>
            </a:r>
            <a:r>
              <a:rPr lang="en-US" sz="1050" dirty="0">
                <a:solidFill>
                  <a:srgbClr val="64748B"/>
                </a:solidFill>
                <a:ea typeface="+mn-lt"/>
                <a:cs typeface="+mn-lt"/>
              </a:rPr>
              <a:t>Duplicates overestimate </a:t>
            </a:r>
            <a:r>
              <a:rPr lang="en-US" sz="1050" dirty="0" err="1">
                <a:solidFill>
                  <a:srgbClr val="64748B"/>
                </a:solidFill>
                <a:ea typeface="+mn-lt"/>
                <a:cs typeface="+mn-lt"/>
              </a:rPr>
              <a:t>performance,Single</a:t>
            </a:r>
            <a:r>
              <a:rPr lang="en-US" sz="1050" dirty="0">
                <a:solidFill>
                  <a:srgbClr val="64748B"/>
                </a:solidFill>
                <a:ea typeface="+mn-lt"/>
                <a:cs typeface="+mn-lt"/>
              </a:rPr>
              <a:t>-node classes reduce performance</a:t>
            </a:r>
            <a:endParaRPr lang="fr-FR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213950E4-B618-E804-E687-5A99EDE44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837019"/>
              </p:ext>
            </p:extLst>
          </p:nvPr>
        </p:nvGraphicFramePr>
        <p:xfrm>
          <a:off x="275840" y="550242"/>
          <a:ext cx="8627392" cy="33006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2389">
                  <a:extLst>
                    <a:ext uri="{9D8B030D-6E8A-4147-A177-3AD203B41FA5}">
                      <a16:colId xmlns:a16="http://schemas.microsoft.com/office/drawing/2014/main" val="2400396595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2723262124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3288855214"/>
                    </a:ext>
                  </a:extLst>
                </a:gridCol>
                <a:gridCol w="660082">
                  <a:extLst>
                    <a:ext uri="{9D8B030D-6E8A-4147-A177-3AD203B41FA5}">
                      <a16:colId xmlns:a16="http://schemas.microsoft.com/office/drawing/2014/main" val="2125106076"/>
                    </a:ext>
                  </a:extLst>
                </a:gridCol>
                <a:gridCol w="545990">
                  <a:extLst>
                    <a:ext uri="{9D8B030D-6E8A-4147-A177-3AD203B41FA5}">
                      <a16:colId xmlns:a16="http://schemas.microsoft.com/office/drawing/2014/main" val="3699827135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1371463804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550353342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121698994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428665782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2135698263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1643545568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1640131625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4222170884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2274533304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2881667855"/>
                    </a:ext>
                  </a:extLst>
                </a:gridCol>
              </a:tblGrid>
              <a:tr h="10709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Cora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 dirty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Citeseer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PubMed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Cornell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Texas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Wisc</a:t>
                      </a: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onsin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Chameleon</a:t>
                      </a:r>
                      <a:endParaRPr lang="fr-FR" sz="900" b="1" dirty="0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Squirrel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Actor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Roman-Empire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Amazon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baseline="0" noProof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Minesweeper</a:t>
                      </a:r>
                      <a:endParaRPr lang="fr-FR" dirty="0" err="1"/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baseline="0" noProof="0" err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Tokolers</a:t>
                      </a:r>
                      <a:endParaRPr lang="fr-FR" sz="900" b="1" i="0" u="none" strike="noStrike" baseline="0" noProof="0" dirty="0" err="1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524638"/>
                  </a:ext>
                </a:extLst>
              </a:tr>
              <a:tr h="790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GCN-P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81.5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70.3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038161"/>
                  </a:ext>
                </a:extLst>
              </a:tr>
              <a:tr h="7198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GCN-O-I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81.6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71.3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78.6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76.69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70.83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66.36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48.94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32.30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36.81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25.59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38.17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97.03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80.13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78.2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88879"/>
                  </a:ext>
                </a:extLst>
              </a:tr>
              <a:tr h="7198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GCN-O-I-H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71.86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44.76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31.59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276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6250A-585F-3FBC-00C8-3D807E4E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C93C3D-270D-A380-A0C9-3904856BB13C}"/>
              </a:ext>
            </a:extLst>
          </p:cNvPr>
          <p:cNvSpPr/>
          <p:nvPr/>
        </p:nvSpPr>
        <p:spPr>
          <a:xfrm>
            <a:off x="548640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Accuracy  ↑-GAT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EFBB2C3-72BC-5555-624F-F50CA02D6FFD}"/>
              </a:ext>
            </a:extLst>
          </p:cNvPr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FD47F6B-BE99-5378-2702-102676B19399}"/>
              </a:ext>
            </a:extLst>
          </p:cNvPr>
          <p:cNvSpPr/>
          <p:nvPr/>
        </p:nvSpPr>
        <p:spPr>
          <a:xfrm>
            <a:off x="456337" y="4415795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i="1" dirty="0">
                <a:solidFill>
                  <a:srgbClr val="64748B"/>
                </a:solidFill>
                <a:ea typeface="+mn-lt"/>
                <a:cs typeface="+mn-lt"/>
              </a:rPr>
              <a:t>.The same results for the reproducibility ; H: after </a:t>
            </a:r>
            <a:r>
              <a:rPr lang="en-US" sz="1050" b="1" i="1">
                <a:solidFill>
                  <a:srgbClr val="64748B"/>
                </a:solidFill>
                <a:ea typeface="+mn-lt"/>
                <a:cs typeface="+mn-lt"/>
              </a:rPr>
              <a:t>harmonization</a:t>
            </a:r>
            <a:endParaRPr lang="en-US" sz="1050" b="1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E8B8288-DBF4-D1E0-B19D-4B8FB207ABDE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ABAAAC4-6B63-D52A-CE8F-69F7669E76AF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02182E52-74C2-433F-F380-166D9B85B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834680"/>
              </p:ext>
            </p:extLst>
          </p:nvPr>
        </p:nvGraphicFramePr>
        <p:xfrm>
          <a:off x="275840" y="550242"/>
          <a:ext cx="8627392" cy="330060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2389">
                  <a:extLst>
                    <a:ext uri="{9D8B030D-6E8A-4147-A177-3AD203B41FA5}">
                      <a16:colId xmlns:a16="http://schemas.microsoft.com/office/drawing/2014/main" val="2400396595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2723262124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3288855214"/>
                    </a:ext>
                  </a:extLst>
                </a:gridCol>
                <a:gridCol w="660082">
                  <a:extLst>
                    <a:ext uri="{9D8B030D-6E8A-4147-A177-3AD203B41FA5}">
                      <a16:colId xmlns:a16="http://schemas.microsoft.com/office/drawing/2014/main" val="2125106076"/>
                    </a:ext>
                  </a:extLst>
                </a:gridCol>
                <a:gridCol w="545990">
                  <a:extLst>
                    <a:ext uri="{9D8B030D-6E8A-4147-A177-3AD203B41FA5}">
                      <a16:colId xmlns:a16="http://schemas.microsoft.com/office/drawing/2014/main" val="3699827135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1371463804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550353342"/>
                    </a:ext>
                  </a:extLst>
                </a:gridCol>
                <a:gridCol w="603036">
                  <a:extLst>
                    <a:ext uri="{9D8B030D-6E8A-4147-A177-3AD203B41FA5}">
                      <a16:colId xmlns:a16="http://schemas.microsoft.com/office/drawing/2014/main" val="121698994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428665782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2135698263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1643545568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1640131625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4222170884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2274533304"/>
                    </a:ext>
                  </a:extLst>
                </a:gridCol>
                <a:gridCol w="543393">
                  <a:extLst>
                    <a:ext uri="{9D8B030D-6E8A-4147-A177-3AD203B41FA5}">
                      <a16:colId xmlns:a16="http://schemas.microsoft.com/office/drawing/2014/main" val="2881667855"/>
                    </a:ext>
                  </a:extLst>
                </a:gridCol>
              </a:tblGrid>
              <a:tr h="10709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Cora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 dirty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Citeseer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PubMed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Cornell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Texas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Wisc</a:t>
                      </a: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onsin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Chameleon</a:t>
                      </a:r>
                      <a:endParaRPr lang="fr-FR" sz="900" b="1" dirty="0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Squirrel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Actor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Roman-Empire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Amazon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baseline="0" noProof="0" dirty="0" err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Minesweeper</a:t>
                      </a:r>
                      <a:endParaRPr lang="fr-FR" dirty="0" err="1"/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baseline="0" noProof="0" err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Tokolers</a:t>
                      </a:r>
                      <a:endParaRPr lang="fr-FR" sz="900" b="1" i="0" u="none" strike="noStrike" baseline="0" noProof="0" dirty="0" err="1">
                        <a:solidFill>
                          <a:srgbClr val="FFFFFF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524638"/>
                  </a:ext>
                </a:extLst>
              </a:tr>
              <a:tr h="7900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GCN-P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83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72.5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038161"/>
                  </a:ext>
                </a:extLst>
              </a:tr>
              <a:tr h="7198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GCN-O-I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83.1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78.6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OUT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45.40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55.36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54.38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57.45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35.28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26.18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OUT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OUT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OUT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OUT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OUT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88879"/>
                  </a:ext>
                </a:extLst>
              </a:tr>
              <a:tr h="7198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GCN-O-I-H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55.69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endParaRPr lang="fr-FR" sz="9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55.52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35.46</a:t>
                      </a:r>
                      <a:endParaRPr lang="fr-FR" sz="900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27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033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E0B2A-29E7-99B6-2FF5-5503A1A4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1D30A2-C0DE-0A1A-C7EE-87FCA8DD0D50}"/>
              </a:ext>
            </a:extLst>
          </p:cNvPr>
          <p:cNvSpPr/>
          <p:nvPr/>
        </p:nvSpPr>
        <p:spPr>
          <a:xfrm>
            <a:off x="548640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Accuracy  ↑-GIN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11F775D-27C9-A4FD-5F60-0E18346DB7AF}"/>
              </a:ext>
            </a:extLst>
          </p:cNvPr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7C5D157-5EFC-2FF2-4105-3A188F64AC9E}"/>
              </a:ext>
            </a:extLst>
          </p:cNvPr>
          <p:cNvSpPr/>
          <p:nvPr/>
        </p:nvSpPr>
        <p:spPr>
          <a:xfrm>
            <a:off x="456337" y="4415795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i="1" dirty="0">
                <a:solidFill>
                  <a:srgbClr val="64748B"/>
                </a:solidFill>
                <a:ea typeface="+mn-lt"/>
                <a:cs typeface="+mn-lt"/>
              </a:rPr>
              <a:t>.The same results IS Not same  for the  </a:t>
            </a:r>
            <a:r>
              <a:rPr lang="en-US" sz="1050" b="1" i="1">
                <a:solidFill>
                  <a:srgbClr val="64748B"/>
                </a:solidFill>
                <a:ea typeface="+mn-lt"/>
                <a:cs typeface="+mn-lt"/>
              </a:rPr>
              <a:t>all reproducibility</a:t>
            </a:r>
            <a:r>
              <a:rPr lang="en-US" sz="1050" b="1" i="1" dirty="0">
                <a:solidFill>
                  <a:srgbClr val="64748B"/>
                </a:solidFill>
                <a:ea typeface="+mn-lt"/>
                <a:cs typeface="+mn-lt"/>
              </a:rPr>
              <a:t> ; H: after harmonization</a:t>
            </a:r>
            <a:endParaRPr lang="en-US" sz="1050" b="1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C8EBEFA-FE5A-4CB6-0BF0-32D4EDBF33C2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055A791-F102-2A38-09C9-1A629D32545A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</a:t>
            </a:r>
          </a:p>
        </p:txBody>
      </p: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F920F22D-4D36-2D08-5066-40A8E994F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468685"/>
              </p:ext>
            </p:extLst>
          </p:nvPr>
        </p:nvGraphicFramePr>
        <p:xfrm>
          <a:off x="275840" y="550242"/>
          <a:ext cx="8613185" cy="35363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77854">
                  <a:extLst>
                    <a:ext uri="{9D8B030D-6E8A-4147-A177-3AD203B41FA5}">
                      <a16:colId xmlns:a16="http://schemas.microsoft.com/office/drawing/2014/main" val="2400396595"/>
                    </a:ext>
                  </a:extLst>
                </a:gridCol>
                <a:gridCol w="878796">
                  <a:extLst>
                    <a:ext uri="{9D8B030D-6E8A-4147-A177-3AD203B41FA5}">
                      <a16:colId xmlns:a16="http://schemas.microsoft.com/office/drawing/2014/main" val="2723262124"/>
                    </a:ext>
                  </a:extLst>
                </a:gridCol>
                <a:gridCol w="878796">
                  <a:extLst>
                    <a:ext uri="{9D8B030D-6E8A-4147-A177-3AD203B41FA5}">
                      <a16:colId xmlns:a16="http://schemas.microsoft.com/office/drawing/2014/main" val="3288855214"/>
                    </a:ext>
                  </a:extLst>
                </a:gridCol>
                <a:gridCol w="961929">
                  <a:extLst>
                    <a:ext uri="{9D8B030D-6E8A-4147-A177-3AD203B41FA5}">
                      <a16:colId xmlns:a16="http://schemas.microsoft.com/office/drawing/2014/main" val="2125106076"/>
                    </a:ext>
                  </a:extLst>
                </a:gridCol>
                <a:gridCol w="795664">
                  <a:extLst>
                    <a:ext uri="{9D8B030D-6E8A-4147-A177-3AD203B41FA5}">
                      <a16:colId xmlns:a16="http://schemas.microsoft.com/office/drawing/2014/main" val="3699827135"/>
                    </a:ext>
                  </a:extLst>
                </a:gridCol>
                <a:gridCol w="878796">
                  <a:extLst>
                    <a:ext uri="{9D8B030D-6E8A-4147-A177-3AD203B41FA5}">
                      <a16:colId xmlns:a16="http://schemas.microsoft.com/office/drawing/2014/main" val="1371463804"/>
                    </a:ext>
                  </a:extLst>
                </a:gridCol>
                <a:gridCol w="878796">
                  <a:extLst>
                    <a:ext uri="{9D8B030D-6E8A-4147-A177-3AD203B41FA5}">
                      <a16:colId xmlns:a16="http://schemas.microsoft.com/office/drawing/2014/main" val="550353342"/>
                    </a:ext>
                  </a:extLst>
                </a:gridCol>
                <a:gridCol w="878796">
                  <a:extLst>
                    <a:ext uri="{9D8B030D-6E8A-4147-A177-3AD203B41FA5}">
                      <a16:colId xmlns:a16="http://schemas.microsoft.com/office/drawing/2014/main" val="121698994"/>
                    </a:ext>
                  </a:extLst>
                </a:gridCol>
                <a:gridCol w="791879">
                  <a:extLst>
                    <a:ext uri="{9D8B030D-6E8A-4147-A177-3AD203B41FA5}">
                      <a16:colId xmlns:a16="http://schemas.microsoft.com/office/drawing/2014/main" val="428665782"/>
                    </a:ext>
                  </a:extLst>
                </a:gridCol>
                <a:gridCol w="791879">
                  <a:extLst>
                    <a:ext uri="{9D8B030D-6E8A-4147-A177-3AD203B41FA5}">
                      <a16:colId xmlns:a16="http://schemas.microsoft.com/office/drawing/2014/main" val="2135698263"/>
                    </a:ext>
                  </a:extLst>
                </a:gridCol>
              </a:tblGrid>
              <a:tr h="11451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lang="fr-FR" sz="90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IMDB-B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noProof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IMDB-M</a:t>
                      </a:r>
                      <a:endParaRPr lang="fr-FR"/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REDDIT-B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REDDIT-M5K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COLLAB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MUTAG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PROTEINS</a:t>
                      </a:r>
                      <a:endParaRPr lang="fr-FR" sz="900" b="1" dirty="0" err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PTC</a:t>
                      </a:r>
                      <a:endParaRPr lang="fr-FR"/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NCI1</a:t>
                      </a:r>
                      <a:endParaRPr lang="fr-FR" sz="9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524638"/>
                  </a:ext>
                </a:extLst>
              </a:tr>
              <a:tr h="8419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GIN-Paper (GIN-0)</a:t>
                      </a:r>
                      <a:endParaRPr lang="fr-FR"/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75.1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52.3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92.4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57.5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80.2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89.4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76.2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64.6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82.7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038161"/>
                  </a:ext>
                </a:extLst>
              </a:tr>
              <a:tr h="774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1" i="0" u="none" strike="noStrike" baseline="0" noProof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GIN-Paper (GIN-ϵ)</a:t>
                      </a:r>
                      <a:endParaRPr lang="fr-FR"/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74.3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52.1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92.2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57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80.1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89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75.9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63.7</a:t>
                      </a: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82.7</a:t>
                      </a: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88879"/>
                  </a:ext>
                </a:extLst>
              </a:tr>
              <a:tr h="77463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 b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GIN-O-I-H</a:t>
                      </a: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77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52.7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79.5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52.4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67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94.7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79.6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R="114300"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80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400" marB="152400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82.7</a:t>
                      </a:r>
                      <a:endParaRPr lang="fr-FR" sz="9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152399" marB="15239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27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677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951" y="382150"/>
            <a:ext cx="8585439" cy="43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Strengths &amp; Limitations of the GNNs</a:t>
            </a:r>
            <a:endParaRPr lang="en-US" sz="2600" b="1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0206" y="1140843"/>
            <a:ext cx="3964269" cy="29739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423" y="1151626"/>
            <a:ext cx="42442" cy="296317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9828" y="1415595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EF4444"/>
                </a:solidFill>
                <a:latin typeface="Georgia"/>
                <a:ea typeface="+mn-lt"/>
                <a:cs typeface="+mn-lt"/>
              </a:rPr>
              <a:t>Limitations</a:t>
            </a:r>
            <a:endParaRPr lang="fr-FR"/>
          </a:p>
          <a:p>
            <a:pPr algn="ctr"/>
            <a:endParaRPr lang="en-US" sz="1400" b="1" dirty="0">
              <a:solidFill>
                <a:srgbClr val="EF4444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4747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Black-box models with limited interpretability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Performance degradation on heterophilic graphs </a:t>
            </a:r>
            <a:endParaRPr lang="en-US"/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Over-smoothing in deep GNN architectures </a:t>
            </a:r>
            <a:endParaRPr lang="en-US"/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High computational cost on large-scale graphs </a:t>
            </a:r>
            <a:endParaRPr lang="en-US"/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Sensitive to graph quality (noise, duplicates, missing links)</a:t>
            </a:r>
            <a:endParaRPr lang="en-US"/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87229" y="1151626"/>
            <a:ext cx="3894395" cy="29631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76446" y="1162409"/>
            <a:ext cx="42442" cy="295239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41559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0B981"/>
                </a:solidFill>
                <a:latin typeface="Georgia"/>
              </a:rPr>
              <a:t>Strengths</a:t>
            </a:r>
            <a:endParaRPr lang="en-US" sz="1400" b="1" dirty="0">
              <a:solidFill>
                <a:srgbClr val="10B981"/>
              </a:solidFill>
              <a:latin typeface="Georg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38328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14999"/>
              </a:lnSpc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Exploits graph topology and node features </a:t>
            </a:r>
            <a:endParaRPr lang="en-US" sz="100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Captures neighborhood dependencies </a:t>
            </a:r>
            <a:endParaRPr lang="en-US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High performance on graph learning tasks </a:t>
            </a:r>
            <a:endParaRPr lang="en-US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Generalizes across </a:t>
            </a:r>
            <a:r>
              <a:rPr lang="en-US" sz="1000">
                <a:solidFill>
                  <a:srgbClr val="1E293B"/>
                </a:solidFill>
                <a:ea typeface="Calibri"/>
                <a:cs typeface="Calibri"/>
              </a:rPr>
              <a:t>diverse graph domains </a:t>
            </a:r>
            <a:endParaRPr lang="en-US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Calibri"/>
                <a:cs typeface="Calibri"/>
              </a:rPr>
              <a:t>Automatic feature learning</a:t>
            </a:r>
            <a:endParaRPr lang="en-US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2793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64748B"/>
                </a:solidFill>
                <a:ea typeface="+mn-lt"/>
                <a:cs typeface="+mn-lt"/>
              </a:rPr>
              <a:t>GNNs are black-box · Use </a:t>
            </a:r>
            <a:r>
              <a:rPr lang="en-US" sz="1000" b="1" dirty="0" err="1">
                <a:solidFill>
                  <a:srgbClr val="64748B"/>
                </a:solidFill>
                <a:ea typeface="+mn-lt"/>
                <a:cs typeface="+mn-lt"/>
              </a:rPr>
              <a:t>Graphsag</a:t>
            </a:r>
            <a:r>
              <a:rPr lang="en-US" sz="1000" b="1" dirty="0">
                <a:solidFill>
                  <a:srgbClr val="64748B"/>
                </a:solidFill>
                <a:ea typeface="+mn-lt"/>
                <a:cs typeface="+mn-lt"/>
              </a:rPr>
              <a:t> </a:t>
            </a:r>
            <a:endParaRPr lang="fr-FR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8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Conclusion &amp; Perspectives</a:t>
            </a:r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" y="97840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78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ea typeface="Calibri"/>
                <a:cs typeface="Calibri"/>
              </a:rPr>
              <a:t>We </a:t>
            </a:r>
            <a:r>
              <a:rPr lang="en-US" sz="1100" dirty="0" err="1">
                <a:solidFill>
                  <a:srgbClr val="1E293B"/>
                </a:solidFill>
                <a:ea typeface="Calibri"/>
                <a:cs typeface="Calibri"/>
              </a:rPr>
              <a:t>reproducted</a:t>
            </a:r>
            <a:r>
              <a:rPr lang="en-US" sz="1100" dirty="0">
                <a:solidFill>
                  <a:srgbClr val="1E293B"/>
                </a:solidFill>
                <a:ea typeface="Calibri"/>
                <a:cs typeface="Calibri"/>
              </a:rPr>
              <a:t> the </a:t>
            </a:r>
            <a:r>
              <a:rPr lang="en-US" sz="1100" dirty="0" err="1">
                <a:solidFill>
                  <a:srgbClr val="1E293B"/>
                </a:solidFill>
                <a:ea typeface="Calibri"/>
                <a:cs typeface="Calibri"/>
              </a:rPr>
              <a:t>severals</a:t>
            </a:r>
            <a:r>
              <a:rPr lang="en-US" sz="1100" dirty="0">
                <a:solidFill>
                  <a:srgbClr val="1E293B"/>
                </a:solidFill>
                <a:ea typeface="Calibri"/>
                <a:cs typeface="Calibri"/>
              </a:rPr>
              <a:t> implementations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E293B"/>
                </a:solidFill>
                <a:ea typeface="Calibri"/>
                <a:cs typeface="Calibri"/>
              </a:rPr>
              <a:t>We trained  GNNs model</a:t>
            </a:r>
            <a:endParaRPr lang="en-US" sz="11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1673352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60934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1E293B"/>
                </a:solidFill>
                <a:ea typeface="Calibri"/>
                <a:cs typeface="Calibri"/>
              </a:rPr>
              <a:t>We evaluate by their performance with the accuracy</a:t>
            </a:r>
            <a:endParaRPr lang="en-US" sz="11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2020824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9568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1E293B"/>
                </a:solidFill>
                <a:ea typeface="Calibri"/>
                <a:cs typeface="Calibri"/>
              </a:rPr>
              <a:t>Certains</a:t>
            </a:r>
            <a:r>
              <a:rPr lang="en-US" sz="1100" dirty="0">
                <a:solidFill>
                  <a:srgbClr val="1E293B"/>
                </a:solidFill>
                <a:ea typeface="Calibri"/>
                <a:cs typeface="Calibri"/>
              </a:rPr>
              <a:t> dataset are harmonized</a:t>
            </a:r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8046720" cy="150876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Short term :</a:t>
            </a:r>
            <a:r>
              <a:rPr lang="en-US" sz="1050" dirty="0">
                <a:solidFill>
                  <a:srgbClr val="E2E8F0"/>
                </a:solidFill>
                <a:ea typeface="+mn-lt"/>
                <a:cs typeface="+mn-lt"/>
              </a:rPr>
              <a:t> Study the </a:t>
            </a:r>
            <a:r>
              <a:rPr lang="en-US" sz="1050" dirty="0" err="1">
                <a:solidFill>
                  <a:srgbClr val="E2E8F0"/>
                </a:solidFill>
                <a:ea typeface="+mn-lt"/>
                <a:cs typeface="+mn-lt"/>
              </a:rPr>
              <a:t>Graphsag</a:t>
            </a:r>
            <a:endParaRPr lang="fr-FR" dirty="0" err="1"/>
          </a:p>
        </p:txBody>
      </p:sp>
      <p:sp>
        <p:nvSpPr>
          <p:cNvPr id="24" name="Text 22"/>
          <p:cNvSpPr/>
          <p:nvPr/>
        </p:nvSpPr>
        <p:spPr>
          <a:xfrm>
            <a:off x="731520" y="39959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Medium term :</a:t>
            </a:r>
            <a:r>
              <a:rPr lang="en-US" sz="1050" dirty="0">
                <a:solidFill>
                  <a:schemeClr val="accent5"/>
                </a:solidFill>
                <a:ea typeface="+mn-lt"/>
                <a:cs typeface="+mn-lt"/>
              </a:rPr>
              <a:t> </a:t>
            </a:r>
            <a:r>
              <a:rPr lang="en-US" sz="1050" dirty="0">
                <a:solidFill>
                  <a:schemeClr val="bg1"/>
                </a:solidFill>
                <a:ea typeface="+mn-lt"/>
                <a:cs typeface="+mn-lt"/>
              </a:rPr>
              <a:t>Others GNNs, local explanations of </a:t>
            </a:r>
            <a:r>
              <a:rPr lang="en-US" sz="1050" dirty="0" err="1">
                <a:solidFill>
                  <a:schemeClr val="bg1"/>
                </a:solidFill>
                <a:ea typeface="+mn-lt"/>
                <a:cs typeface="+mn-lt"/>
              </a:rPr>
              <a:t>thei</a:t>
            </a:r>
            <a:r>
              <a:rPr lang="en-US" sz="1050">
                <a:solidFill>
                  <a:schemeClr val="bg1"/>
                </a:solidFill>
                <a:ea typeface="+mn-lt"/>
                <a:cs typeface="+mn-lt"/>
              </a:rPr>
              <a:t>r predictions </a:t>
            </a:r>
            <a:endParaRPr lang="en-US" sz="10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433425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Long term :</a:t>
            </a:r>
            <a:r>
              <a:rPr lang="en-US" sz="1050" dirty="0">
                <a:solidFill>
                  <a:schemeClr val="accent5"/>
                </a:solidFill>
                <a:ea typeface="+mn-lt"/>
                <a:cs typeface="+mn-lt"/>
              </a:rPr>
              <a:t> </a:t>
            </a:r>
            <a:r>
              <a:rPr lang="en-US" sz="1050" dirty="0">
                <a:solidFill>
                  <a:srgbClr val="E2E8F0"/>
                </a:solidFill>
                <a:ea typeface="+mn-lt"/>
                <a:cs typeface="+mn-lt"/>
              </a:rPr>
              <a:t>Move the local expla</a:t>
            </a:r>
            <a:r>
              <a:rPr lang="en-US" sz="1050">
                <a:solidFill>
                  <a:srgbClr val="E2E8F0"/>
                </a:solidFill>
                <a:ea typeface="+mn-lt"/>
                <a:cs typeface="+mn-lt"/>
              </a:rPr>
              <a:t>nation to global explanation </a:t>
            </a:r>
            <a:endParaRPr lang="fr-FR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Thank you for your attention</a:t>
            </a:r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2222</Words>
  <Application>Microsoft Office PowerPoint</Application>
  <PresentationFormat>Affichage à l'écran (16:9)</PresentationFormat>
  <Paragraphs>530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Multimodal — Documentation MRO</dc:title>
  <dc:subject>PptxGenJS Presentation</dc:subject>
  <dc:creator>Benali, Ouchene, Ouedraogo</dc:creator>
  <cp:lastModifiedBy>Souhil OUCHENE</cp:lastModifiedBy>
  <cp:revision>2670</cp:revision>
  <dcterms:created xsi:type="dcterms:W3CDTF">2026-03-18T19:33:11Z</dcterms:created>
  <dcterms:modified xsi:type="dcterms:W3CDTF">2026-07-07T09:06:32Z</dcterms:modified>
</cp:coreProperties>
</file>