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65" r:id="rId4"/>
    <p:sldId id="284" r:id="rId5"/>
    <p:sldId id="283" r:id="rId6"/>
    <p:sldId id="287" r:id="rId7"/>
    <p:sldId id="291" r:id="rId8"/>
    <p:sldId id="288" r:id="rId9"/>
    <p:sldId id="282" r:id="rId10"/>
    <p:sldId id="292" r:id="rId11"/>
    <p:sldId id="277" r:id="rId12"/>
    <p:sldId id="278" r:id="rId13"/>
    <p:sldId id="293" r:id="rId14"/>
    <p:sldId id="294" r:id="rId15"/>
    <p:sldId id="295" r:id="rId16"/>
    <p:sldId id="289" r:id="rId17"/>
    <p:sldId id="290" r:id="rId18"/>
    <p:sldId id="296" r:id="rId19"/>
    <p:sldId id="28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64CD1-EA3E-F9CE-A100-D294D78124BE}" v="1" dt="2026-07-22T08:47:29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5977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CFE5D-A5F8-0783-B4B5-7F99C79F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7421E-A35D-A546-550F-29809CCDA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C3D7B-1D3C-4D2A-6976-E855D34F0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923D-02C4-D3E8-7AF5-ABA92FAC4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443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DD4E-8479-4793-AB47-57F81370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0F613-1AF6-B286-B250-C13EAA529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CF21E-AE6E-C8C5-2A0A-5D877E98B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398B32-FD1E-12FE-56C4-3A14F5CEF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044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62A54-5835-5DAB-ECAA-C68F94506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533ED-C688-E4DD-D645-48A3B81E5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8E494-E39C-FDA6-4147-8BDE72117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B2E9D-2500-DFBF-5577-A3A346EF6D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22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F2AA3-C082-4D83-C5CB-E5E8823B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AE5ED-5D35-6E88-0D57-17D966854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35244-9C41-1360-49E3-7F8010FAD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27DE2-CEC7-272F-327D-2D7360A55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43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ADBD9-2226-7CCF-1D18-BEA32CCE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B0D14-A469-7F6F-3E17-AE0B094B4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25616-DEC7-0011-C76D-3EAD07C46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B1061-7AD4-D380-624C-481C9472A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242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2BDEE-C316-9933-C51D-AE88F9E1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D8EEF-DD54-8FF0-00FD-980F27D66B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F587C-FD96-DDD3-9CBE-111A02273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D8984-C0EE-A956-41AB-FEC5DC3B0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283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8A51-63AC-8FFB-27DA-97B49F484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CD9FB-979C-BCD5-5794-0ADDB274B6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BF64D-21BC-461F-34EE-B2EE1CEC0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4DAEE-0DDC-81F0-7BCA-CFEA1F99AE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703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963A7-817C-8BF3-C945-BAD268CB5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D69CF2-5F75-51AF-8778-99BE1FC9D5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31DDE9-45E0-E6F9-75E6-C594CD161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5420F-070D-8631-95CF-BE6FB61B1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244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DDF3-EC77-1BCE-BF25-890F8238E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B2EB1D-9F22-79B3-5A88-3E466F80A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58852-5A8E-4072-EFB2-A65ABA574B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EC9A4-F25F-75AB-5DEE-0DC6A35B5B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05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6BE1-2FD0-B929-961F-4A03D6DD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B243A-066C-276F-0C5F-0F22DDB1E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1E2ADF-3385-76FD-1B46-120D3A7E1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9EE34-9904-EDA1-4C97-B3ECAD964C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09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8D594-9BF6-B512-B5E7-0AAA2E804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7E2343-30A4-E989-AE64-549BA0D93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67A8B-290E-7F86-D764-5BDBE2ED8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2AD58-9A03-A1E0-3E49-CDA04F740F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34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9F512-E7C0-96A0-321E-BB84A156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DDAF-EC43-E1D9-27E3-CA04263FB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690FCA-F74C-A2A5-7C8A-E55967A48C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FFC02-DCAC-0344-1F12-36C8132EB1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2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155DA-0658-447D-4E01-1B8B80637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035B6B-25B7-EF73-F1DD-3424DCA1F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17ADF-2A47-525B-4245-B5E7F536A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52A85-9EB3-624F-B238-F9D497F0E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2214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429000" y="2528317"/>
            <a:ext cx="22860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Graph Neur</a:t>
            </a:r>
            <a:r>
              <a:rPr lang="en-US" sz="40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al Network</a:t>
            </a:r>
            <a:r>
              <a:rPr lang="en-US" sz="4000" dirty="0">
                <a:solidFill>
                  <a:srgbClr val="FFFFFF"/>
                </a:solidFill>
                <a:ea typeface="+mn-lt"/>
                <a:cs typeface="+mn-lt"/>
              </a:rPr>
              <a:t>:</a:t>
            </a:r>
            <a:endParaRPr lang="en-US" sz="4000" dirty="0"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>
                <a:solidFill>
                  <a:srgbClr val="22D3EE"/>
                </a:solidFill>
                <a:ea typeface="+mn-lt"/>
                <a:cs typeface="+mn-lt"/>
              </a:rPr>
              <a:t>For Node or graph classification </a:t>
            </a:r>
            <a:endParaRPr lang="fr-FR">
              <a:ea typeface="Calibri"/>
              <a:cs typeface="Calibri"/>
            </a:endParaRPr>
          </a:p>
          <a:p>
            <a:pPr algn="ctr"/>
            <a:endParaRPr lang="en-US" sz="2000" dirty="0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7" name="Text 5"/>
          <p:cNvSpPr/>
          <p:nvPr/>
        </p:nvSpPr>
        <p:spPr>
          <a:xfrm>
            <a:off x="0" y="2766061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OUEDRAOGO Fidèle</a:t>
            </a:r>
          </a:p>
          <a:p>
            <a:pPr marL="0" indent="0" algn="ctr">
              <a:buNone/>
            </a:pPr>
            <a:endParaRPr lang="en-US" sz="1300" dirty="0">
              <a:solidFill>
                <a:schemeClr val="bg1"/>
              </a:solidFill>
            </a:endParaRPr>
          </a:p>
          <a:p>
            <a:pPr algn="ctr"/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Pr. </a:t>
            </a:r>
            <a:r>
              <a:rPr lang="en-US" sz="1300">
                <a:solidFill>
                  <a:schemeClr val="bg1"/>
                </a:solidFill>
                <a:ea typeface="+mn-lt"/>
                <a:cs typeface="+mn-lt"/>
              </a:rPr>
              <a:t>Christine Largeron</a:t>
            </a: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 · Dr. </a:t>
            </a:r>
            <a:r>
              <a:rPr lang="en-US" sz="1300" dirty="0">
                <a:solidFill>
                  <a:schemeClr val="bg1"/>
                </a:solidFill>
                <a:ea typeface="+mn-lt"/>
                <a:cs typeface="+mn-lt"/>
              </a:rPr>
              <a:t>Haifei Zhang</a:t>
            </a:r>
          </a:p>
        </p:txBody>
      </p:sp>
      <p:sp>
        <p:nvSpPr>
          <p:cNvPr id="8" name="Text 6"/>
          <p:cNvSpPr/>
          <p:nvPr/>
        </p:nvSpPr>
        <p:spPr>
          <a:xfrm>
            <a:off x="0" y="4656667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94A3B8"/>
                </a:solidFill>
                <a:ea typeface="+mn-lt"/>
                <a:cs typeface="+mn-lt"/>
              </a:rPr>
              <a:t>Presentation — July 15, 2026</a:t>
            </a:r>
            <a:endParaRPr lang="fr-FR">
              <a:solidFill>
                <a:srgbClr val="000000"/>
              </a:solidFill>
              <a:ea typeface="+mn-lt"/>
              <a:cs typeface="+mn-lt"/>
            </a:endParaRPr>
          </a:p>
          <a:p>
            <a:pPr algn="ctr"/>
            <a:r>
              <a:rPr lang="en-US" sz="1000" b="1" dirty="0">
                <a:solidFill>
                  <a:srgbClr val="94A3B8"/>
                </a:solidFill>
                <a:ea typeface="+mn-lt"/>
                <a:cs typeface="+mn-lt"/>
              </a:rPr>
              <a:t>Master’s degree (2nd year) in </a:t>
            </a:r>
            <a:r>
              <a:rPr lang="en-US" sz="1000" b="1" dirty="0" err="1">
                <a:solidFill>
                  <a:srgbClr val="94A3B8"/>
                </a:solidFill>
                <a:ea typeface="+mn-lt"/>
                <a:cs typeface="+mn-lt"/>
              </a:rPr>
              <a:t>DataScale</a:t>
            </a:r>
            <a:r>
              <a:rPr lang="en-US" sz="1000" b="1" dirty="0">
                <a:solidFill>
                  <a:srgbClr val="94A3B8"/>
                </a:solidFill>
                <a:ea typeface="+mn-lt"/>
                <a:cs typeface="+mn-lt"/>
              </a:rPr>
              <a:t>/ Jean Monnet University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 Objectives</a:t>
            </a:r>
            <a:endParaRPr lang="fr-FR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Flèche en cercle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575" y="13487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Reproduct</a:t>
            </a:r>
            <a:r>
              <a:rPr lang="en-US" sz="1200" b="1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ibility</a:t>
            </a:r>
            <a:endParaRPr lang="fr-FR" err="1"/>
          </a:p>
        </p:txBody>
      </p:sp>
      <p:sp>
        <p:nvSpPr>
          <p:cNvPr id="7" name="Text 4"/>
          <p:cNvSpPr/>
          <p:nvPr/>
        </p:nvSpPr>
        <p:spPr>
          <a:xfrm>
            <a:off x="73152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64748B"/>
                </a:solidFill>
                <a:ea typeface="+mn-lt"/>
                <a:cs typeface="+mn-lt"/>
              </a:rPr>
              <a:t>Reproduce the original GCN, </a:t>
            </a:r>
            <a:r>
              <a:rPr lang="en-US" sz="1000" dirty="0" err="1">
                <a:solidFill>
                  <a:srgbClr val="64748B"/>
                </a:solidFill>
                <a:ea typeface="+mn-lt"/>
                <a:cs typeface="+mn-lt"/>
              </a:rPr>
              <a:t>GraphSAGE</a:t>
            </a:r>
            <a:r>
              <a:rPr lang="en-US" sz="1000" dirty="0">
                <a:solidFill>
                  <a:srgbClr val="64748B"/>
                </a:solidFill>
                <a:ea typeface="+mn-lt"/>
                <a:cs typeface="+mn-lt"/>
              </a:rPr>
              <a:t>, GAT, and GIN models.</a:t>
            </a:r>
            <a:endParaRPr lang="fr-FR" dirty="0"/>
          </a:p>
          <a:p>
            <a:pPr>
              <a:lnSpc>
                <a:spcPct val="110000"/>
              </a:lnSpc>
            </a:pPr>
            <a:endParaRPr lang="en-US" sz="1000" dirty="0">
              <a:solidFill>
                <a:srgbClr val="64748B"/>
              </a:solidFill>
              <a:ea typeface="+mn-lt"/>
              <a:cs typeface="+mn-lt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56616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Coche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0140" y="1352974"/>
            <a:ext cx="325543" cy="3255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0624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Evaluation</a:t>
            </a:r>
            <a:endParaRPr lang="en-US" sz="1200" b="1" err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576743" y="1927436"/>
            <a:ext cx="2183977" cy="65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64748B"/>
                </a:solidFill>
                <a:ea typeface="+mn-lt"/>
                <a:cs typeface="+mn-lt"/>
              </a:rPr>
              <a:t>Evaluate the models on both original and new graph datasets with accuracy, micro average f1 et </a:t>
            </a:r>
            <a:r>
              <a:rPr lang="en-US" sz="1000">
                <a:solidFill>
                  <a:srgbClr val="64748B"/>
                </a:solidFill>
                <a:ea typeface="+mn-lt"/>
                <a:cs typeface="+mn-lt"/>
              </a:rPr>
              <a:t>macro average f1</a:t>
            </a:r>
            <a:endParaRPr lang="en-US" sz="1000" dirty="0">
              <a:solidFill>
                <a:srgbClr val="64748B"/>
              </a:solidFill>
              <a:ea typeface="Calibri"/>
              <a:cs typeface="Calibri"/>
            </a:endParaRPr>
          </a:p>
          <a:p>
            <a:endParaRPr lang="en-US" sz="10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5603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400800" y="1280160"/>
            <a:ext cx="502920" cy="50292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Cerveau avec un remplissage uni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7047" y="1365674"/>
            <a:ext cx="392218" cy="36046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040880" y="12344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 err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Harmonisation</a:t>
            </a:r>
          </a:p>
        </p:txBody>
      </p:sp>
      <p:sp>
        <p:nvSpPr>
          <p:cNvPr id="17" name="Text 12"/>
          <p:cNvSpPr/>
          <p:nvPr/>
        </p:nvSpPr>
        <p:spPr>
          <a:xfrm>
            <a:off x="6400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64748B"/>
                </a:solidFill>
                <a:ea typeface="+mn-lt"/>
                <a:cs typeface="+mn-lt"/>
              </a:rPr>
              <a:t>Harmonize selected datasets to improve data quality</a:t>
            </a:r>
            <a:endParaRPr lang="fr-FR"/>
          </a:p>
          <a:p>
            <a:endParaRPr lang="en-US" sz="1000" dirty="0">
              <a:solidFill>
                <a:srgbClr val="64748B"/>
              </a:solidFill>
              <a:ea typeface="+mn-lt"/>
              <a:cs typeface="+mn-lt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16329" y="4733109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6"/>
          <p:cNvSpPr/>
          <p:nvPr/>
        </p:nvSpPr>
        <p:spPr>
          <a:xfrm>
            <a:off x="500743" y="4773386"/>
            <a:ext cx="8534400" cy="3526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</a:rPr>
              <a:t>Method</a:t>
            </a:r>
            <a:r>
              <a:rPr lang="en-US" sz="3600" b="1" dirty="0">
                <a:solidFill>
                  <a:srgbClr val="FFFFFF"/>
                </a:solidFill>
                <a:latin typeface="Georgia"/>
              </a:rPr>
              <a:t> overview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  <a:ea typeface="+mn-lt"/>
                <a:cs typeface="+mn-lt"/>
              </a:rPr>
              <a:t>Node Classification (GNN) &amp; Evaluation &amp; </a:t>
            </a:r>
            <a:r>
              <a:rPr lang="en-US" sz="1600" dirty="0" err="1">
                <a:solidFill>
                  <a:srgbClr val="94A3B8"/>
                </a:solidFill>
                <a:ea typeface="+mn-lt"/>
                <a:cs typeface="+mn-lt"/>
              </a:rPr>
              <a:t>Harmonisation</a:t>
            </a:r>
            <a:endParaRPr lang="en-US" sz="1600" dirty="0" err="1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A1484-E938-6C65-1637-7D6F2AE90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A5E67-1663-90E0-F223-198926DDBADA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GNNs</a:t>
            </a:r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6099EB-5B6F-29E7-8E3A-34170A35246D}"/>
              </a:ext>
            </a:extLst>
          </p:cNvPr>
          <p:cNvSpPr/>
          <p:nvPr/>
        </p:nvSpPr>
        <p:spPr>
          <a:xfrm>
            <a:off x="491490" y="942975"/>
            <a:ext cx="3897630" cy="1438275"/>
          </a:xfrm>
          <a:prstGeom prst="rect">
            <a:avLst/>
          </a:prstGeom>
          <a:solidFill>
            <a:srgbClr val="FEF2F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D0CECE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B0FD28-2C83-C509-AE9D-FFEDC5707D0E}"/>
              </a:ext>
            </a:extLst>
          </p:cNvPr>
          <p:cNvSpPr/>
          <p:nvPr/>
        </p:nvSpPr>
        <p:spPr>
          <a:xfrm>
            <a:off x="731520" y="9677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300" b="1">
                <a:solidFill>
                  <a:srgbClr val="EF4444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F1F1B76-E50C-5E9C-61CE-08A49B8FA1FF}"/>
              </a:ext>
            </a:extLst>
          </p:cNvPr>
          <p:cNvSpPr/>
          <p:nvPr/>
        </p:nvSpPr>
        <p:spPr>
          <a:xfrm>
            <a:off x="731520" y="116205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400"/>
              </a:spcAft>
            </a:pPr>
            <a:r>
              <a:rPr lang="en-US" sz="1050">
                <a:solidFill>
                  <a:srgbClr val="1E293B"/>
                </a:solidFill>
                <a:ea typeface="+mn-lt"/>
                <a:cs typeface="+mn-lt"/>
              </a:rPr>
              <a:t>Graph Neural Networks (GNNs) are deep learning models designed to learn from graph-structured data by aggregating information from neighboring nodes.</a:t>
            </a:r>
            <a:endParaRPr lang="fr-FR"/>
          </a:p>
          <a:p>
            <a:pPr>
              <a:spcAft>
                <a:spcPts val="4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5BD91C-F839-9D1B-1511-BE7BE91CB5D8}"/>
              </a:ext>
            </a:extLst>
          </p:cNvPr>
          <p:cNvSpPr/>
          <p:nvPr/>
        </p:nvSpPr>
        <p:spPr>
          <a:xfrm>
            <a:off x="4678680" y="942975"/>
            <a:ext cx="3992880" cy="1447800"/>
          </a:xfrm>
          <a:prstGeom prst="rect">
            <a:avLst/>
          </a:prstGeom>
          <a:solidFill>
            <a:srgbClr val="ECFDF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2430D6-05DB-6411-AB93-8E1E0AB27320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>
                <a:solidFill>
                  <a:srgbClr val="10B981"/>
                </a:solidFill>
                <a:latin typeface="Georgia"/>
                <a:ea typeface="+mn-lt"/>
                <a:cs typeface="+mn-lt"/>
              </a:rPr>
              <a:t>Types of GNNs</a:t>
            </a:r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DB451B-06A4-FEED-2135-11AA038F07E6}"/>
              </a:ext>
            </a:extLst>
          </p:cNvPr>
          <p:cNvSpPr/>
          <p:nvPr/>
        </p:nvSpPr>
        <p:spPr>
          <a:xfrm>
            <a:off x="4937760" y="1371600"/>
            <a:ext cx="3474720" cy="1188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ea typeface="Calibri"/>
                <a:cs typeface="Calibri"/>
              </a:rPr>
              <a:t>Graph Convolutional Network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>
                <a:solidFill>
                  <a:srgbClr val="1E293B"/>
                </a:solidFill>
                <a:ea typeface="Calibri"/>
                <a:cs typeface="Calibri"/>
              </a:rPr>
              <a:t>Graph Attention Netwo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Graph </a:t>
            </a:r>
            <a:r>
              <a:rPr lang="en-US" sz="1050" dirty="0" err="1">
                <a:solidFill>
                  <a:srgbClr val="1E293B"/>
                </a:solidFill>
                <a:ea typeface="Calibri"/>
                <a:cs typeface="Calibri"/>
              </a:rPr>
              <a:t>Isomophism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 Network</a:t>
            </a:r>
          </a:p>
          <a:p>
            <a:pPr marL="171450" indent="-171450">
              <a:spcAft>
                <a:spcPts val="400"/>
              </a:spcAft>
              <a:buFont typeface="Arial"/>
              <a:buChar char="•"/>
            </a:pPr>
            <a:r>
              <a:rPr lang="en-US" sz="1050" dirty="0" err="1">
                <a:solidFill>
                  <a:srgbClr val="1E293B"/>
                </a:solidFill>
                <a:ea typeface="Calibri"/>
                <a:cs typeface="Calibri"/>
              </a:rPr>
              <a:t>GraphSage</a:t>
            </a:r>
            <a:r>
              <a:rPr lang="en-US" sz="1050" dirty="0">
                <a:solidFill>
                  <a:srgbClr val="1E293B"/>
                </a:solidFill>
                <a:ea typeface="Calibri"/>
                <a:cs typeface="Calibri"/>
              </a:rPr>
              <a:t> ...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1EF74BF-1597-1F5F-EA72-3AD6779ED82C}"/>
              </a:ext>
            </a:extLst>
          </p:cNvPr>
          <p:cNvSpPr/>
          <p:nvPr/>
        </p:nvSpPr>
        <p:spPr>
          <a:xfrm>
            <a:off x="462915" y="2621280"/>
            <a:ext cx="3960495" cy="193167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770CFD-4B2C-AE18-805D-926B8197F409}"/>
              </a:ext>
            </a:extLst>
          </p:cNvPr>
          <p:cNvSpPr/>
          <p:nvPr/>
        </p:nvSpPr>
        <p:spPr>
          <a:xfrm flipV="1">
            <a:off x="491490" y="2486025"/>
            <a:ext cx="3903345" cy="97155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F1B5B3-926A-91AB-263D-D85D4CD68BE6}"/>
              </a:ext>
            </a:extLst>
          </p:cNvPr>
          <p:cNvSpPr/>
          <p:nvPr/>
        </p:nvSpPr>
        <p:spPr>
          <a:xfrm>
            <a:off x="487680" y="261747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rgbClr val="0F2B46"/>
                </a:solidFill>
                <a:latin typeface="Georgia"/>
                <a:ea typeface="Georgia" pitchFamily="34" charset="-122"/>
                <a:cs typeface="Georgia" pitchFamily="34" charset="-120"/>
              </a:rPr>
              <a:t>🟦 </a:t>
            </a:r>
            <a:r>
              <a:rPr lang="en-US" sz="11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Idea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8059AD-F47C-0C3E-43E6-CB43A9289E3E}"/>
              </a:ext>
            </a:extLst>
          </p:cNvPr>
          <p:cNvSpPr/>
          <p:nvPr/>
        </p:nvSpPr>
        <p:spPr>
          <a:xfrm>
            <a:off x="663212" y="2715714"/>
            <a:ext cx="2482215" cy="1609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Relies on the message-passing paradigm</a:t>
            </a:r>
            <a:endParaRPr lang="fr-FR"/>
          </a:p>
          <a:p>
            <a:pPr marL="171450" indent="-171450">
              <a:buFont typeface="Arial"/>
              <a:buChar char="•"/>
            </a:pPr>
            <a:r>
              <a:rPr lang="en-US" sz="900" dirty="0">
                <a:solidFill>
                  <a:srgbClr val="1E293B"/>
                </a:solidFill>
                <a:ea typeface="+mn-lt"/>
                <a:cs typeface="+mn-lt"/>
              </a:rPr>
              <a:t>Each node passes messages to its </a:t>
            </a:r>
            <a:r>
              <a:rPr lang="en-US" sz="900" dirty="0" err="1">
                <a:solidFill>
                  <a:srgbClr val="1E293B"/>
                </a:solidFill>
                <a:ea typeface="+mn-lt"/>
                <a:cs typeface="+mn-lt"/>
              </a:rPr>
              <a:t>neighborin</a:t>
            </a:r>
          </a:p>
          <a:p>
            <a:pPr marL="171450" indent="-171450">
              <a:buFont typeface="Arial"/>
              <a:buChar char="•"/>
            </a:pPr>
            <a:endParaRPr lang="en-US" sz="900" dirty="0">
              <a:solidFill>
                <a:srgbClr val="1E293B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AGGREGATE   </a:t>
            </a:r>
          </a:p>
          <a:p>
            <a:pPr marL="171450" indent="-171450">
              <a:buFont typeface="Arial"/>
              <a:buChar char="•"/>
            </a:pPr>
            <a:endParaRPr lang="en-US" sz="900" dirty="0">
              <a:solidFill>
                <a:srgbClr val="1E293B"/>
              </a:solidFill>
              <a:ea typeface="+mn-lt"/>
              <a:cs typeface="+mn-lt"/>
            </a:endParaRPr>
          </a:p>
          <a:p>
            <a:pPr marL="171450" indent="-171450">
              <a:buFont typeface="Arial"/>
              <a:buChar char="•"/>
            </a:pPr>
            <a:r>
              <a:rPr lang="en-US" sz="900">
                <a:solidFill>
                  <a:srgbClr val="1E293B"/>
                </a:solidFill>
                <a:ea typeface="+mn-lt"/>
                <a:cs typeface="+mn-lt"/>
              </a:rPr>
              <a:t>UPDATE</a:t>
            </a:r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70DBE3B-27F4-2698-E7C5-942C65FEE4EE}"/>
              </a:ext>
            </a:extLst>
          </p:cNvPr>
          <p:cNvSpPr/>
          <p:nvPr/>
        </p:nvSpPr>
        <p:spPr>
          <a:xfrm>
            <a:off x="4707527" y="2569572"/>
            <a:ext cx="3956413" cy="1975213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CB0B50E-CCF0-7F95-F285-945BC072C1DB}"/>
              </a:ext>
            </a:extLst>
          </p:cNvPr>
          <p:cNvSpPr/>
          <p:nvPr/>
        </p:nvSpPr>
        <p:spPr>
          <a:xfrm>
            <a:off x="4674870" y="2487930"/>
            <a:ext cx="4027170" cy="838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F3E4937-2287-F66E-3E5F-B8F243FA23D6}"/>
              </a:ext>
            </a:extLst>
          </p:cNvPr>
          <p:cNvSpPr/>
          <p:nvPr/>
        </p:nvSpPr>
        <p:spPr>
          <a:xfrm>
            <a:off x="5699760" y="2583453"/>
            <a:ext cx="2448197" cy="263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>
                <a:solidFill>
                  <a:srgbClr val="0F2B46"/>
                </a:solidFill>
                <a:latin typeface="Georgia"/>
                <a:ea typeface="Georgia" pitchFamily="34" charset="-122"/>
                <a:cs typeface="Georgia" pitchFamily="34" charset="-120"/>
              </a:rPr>
              <a:t>🟩Formula of Nodes representation</a:t>
            </a:r>
            <a:endParaRPr lang="en-US" sz="1000">
              <a:solidFill>
                <a:srgbClr val="0F2B46"/>
              </a:solidFill>
              <a:ea typeface="Calibri"/>
              <a:cs typeface="Calibri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1C79147-BE7C-0811-E9D1-1DD2FB8462F8}"/>
              </a:ext>
            </a:extLst>
          </p:cNvPr>
          <p:cNvSpPr/>
          <p:nvPr/>
        </p:nvSpPr>
        <p:spPr>
          <a:xfrm>
            <a:off x="4918710" y="2861310"/>
            <a:ext cx="3491865" cy="1504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99A2D1F8-1E02-B499-2FF9-37F85D6CAAFD}"/>
              </a:ext>
            </a:extLst>
          </p:cNvPr>
          <p:cNvSpPr/>
          <p:nvPr/>
        </p:nvSpPr>
        <p:spPr>
          <a:xfrm>
            <a:off x="-48986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 lIns="91440" tIns="45720" rIns="91440" bIns="45720" anchor="t"/>
          <a:lstStyle/>
          <a:p>
            <a:r>
              <a:rPr lang="en-US" dirty="0">
                <a:ea typeface="Calibri"/>
                <a:cs typeface="Calibri"/>
              </a:rPr>
              <a:t>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dirty="0">
                <a:solidFill>
                  <a:schemeClr val="bg1"/>
                </a:solidFill>
                <a:ea typeface="Calibri"/>
                <a:cs typeface="Calibri"/>
              </a:rPr>
              <a:t>          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2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33B3699-33D9-C864-050E-AC037B114EE2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</a:t>
            </a:r>
            <a:endParaRPr lang="en-US" sz="900">
              <a:solidFill>
                <a:srgbClr val="94A3B8"/>
              </a:solidFill>
              <a:ea typeface="Calibri"/>
              <a:cs typeface="Calibri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100BEFC-B15E-B94E-BF98-352C33EB7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986" y="3359603"/>
            <a:ext cx="2852057" cy="26398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8F5DFF8-033B-0222-045C-CD27970AC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1638" y="3734481"/>
            <a:ext cx="2300969" cy="308883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E92754A9-AC34-720E-F6AE-5542EED4F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712" y="2834369"/>
            <a:ext cx="3533775" cy="6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57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4DA7E-AE26-C384-4313-CDB4212B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9F17194-F699-7423-6E68-9CD51E526AA3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GCN</a:t>
            </a:r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DF7710-E9A4-5CAB-2759-8624C349F68C}"/>
              </a:ext>
            </a:extLst>
          </p:cNvPr>
          <p:cNvSpPr/>
          <p:nvPr/>
        </p:nvSpPr>
        <p:spPr>
          <a:xfrm>
            <a:off x="548640" y="91440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D2ED3E-782B-5A9A-E412-2FAFB74E42D8}"/>
              </a:ext>
            </a:extLst>
          </p:cNvPr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DBA2D37-7902-D4B2-1C74-25F698EFB311}"/>
              </a:ext>
            </a:extLst>
          </p:cNvPr>
          <p:cNvSpPr/>
          <p:nvPr/>
        </p:nvSpPr>
        <p:spPr>
          <a:xfrm>
            <a:off x="731520" y="1282700"/>
            <a:ext cx="3629660" cy="1597660"/>
          </a:xfrm>
          <a:prstGeom prst="rect">
            <a:avLst/>
          </a:prstGeom>
          <a:solidFill>
            <a:schemeClr val="bg2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GCN extends GNNs by performing convolution operations on graph structures.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It aggregates information from neighboring nodes using a normalized adjacency matrix.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Each node representation is updated by combining its own features with neighborhood information.</a:t>
            </a:r>
            <a:endParaRPr lang="en-US"/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7BE3FD5-F983-0055-DF5F-A7FB641351A9}"/>
              </a:ext>
            </a:extLst>
          </p:cNvPr>
          <p:cNvSpPr/>
          <p:nvPr/>
        </p:nvSpPr>
        <p:spPr>
          <a:xfrm>
            <a:off x="4754880" y="914400"/>
            <a:ext cx="38404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ED527D8-BAF1-AF6E-12D0-08720BD39931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Formula of nodes represen</a:t>
            </a:r>
            <a:r>
              <a:rPr lang="en-US" sz="14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tation</a:t>
            </a:r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63211FC-9F54-6DBF-4980-E041FC2F03EC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9682393-FE74-14DA-B73D-0AEA4B9DEB1B}"/>
              </a:ext>
            </a:extLst>
          </p:cNvPr>
          <p:cNvSpPr/>
          <p:nvPr/>
        </p:nvSpPr>
        <p:spPr>
          <a:xfrm>
            <a:off x="548640" y="3154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Modeling</a:t>
            </a:r>
            <a:endParaRPr lang="fr-F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7810DE5-67C7-5D0E-85D0-EA3D3D6102C8}"/>
              </a:ext>
            </a:extLst>
          </p:cNvPr>
          <p:cNvSpPr/>
          <p:nvPr/>
        </p:nvSpPr>
        <p:spPr>
          <a:xfrm>
            <a:off x="548640" y="3566160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B50B42F-D467-5683-5058-4E07799DC9CA}"/>
              </a:ext>
            </a:extLst>
          </p:cNvPr>
          <p:cNvSpPr/>
          <p:nvPr/>
        </p:nvSpPr>
        <p:spPr>
          <a:xfrm>
            <a:off x="548640" y="35661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message passing</a:t>
            </a:r>
            <a:endParaRPr lang="fr-F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5D48D90-4219-2FFF-7EE1-D45E0770590C}"/>
              </a:ext>
            </a:extLst>
          </p:cNvPr>
          <p:cNvSpPr/>
          <p:nvPr/>
        </p:nvSpPr>
        <p:spPr>
          <a:xfrm>
            <a:off x="2897293" y="3619077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5EE956C-2813-3B72-DE02-BB5AF6983B1B}"/>
              </a:ext>
            </a:extLst>
          </p:cNvPr>
          <p:cNvSpPr/>
          <p:nvPr/>
        </p:nvSpPr>
        <p:spPr>
          <a:xfrm>
            <a:off x="2844377" y="3587327"/>
            <a:ext cx="1340273" cy="886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self-loop aggregation</a:t>
            </a:r>
            <a:endParaRPr lang="fr-FR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F1A513C-0066-445A-0459-B3A4405D26A6}"/>
              </a:ext>
            </a:extLst>
          </p:cNvPr>
          <p:cNvSpPr/>
          <p:nvPr/>
        </p:nvSpPr>
        <p:spPr>
          <a:xfrm>
            <a:off x="5171863" y="3619077"/>
            <a:ext cx="1234440" cy="8229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7D0A82E-FFE3-C14E-B96B-FE27DF00FF2E}"/>
              </a:ext>
            </a:extLst>
          </p:cNvPr>
          <p:cNvSpPr/>
          <p:nvPr/>
        </p:nvSpPr>
        <p:spPr>
          <a:xfrm>
            <a:off x="5171863" y="356616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degree normalization</a:t>
            </a:r>
            <a:endParaRPr lang="fr-FR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5FE41AD-85DC-6536-19D9-AD03DF749314}"/>
              </a:ext>
            </a:extLst>
          </p:cNvPr>
          <p:cNvSpPr/>
          <p:nvPr/>
        </p:nvSpPr>
        <p:spPr>
          <a:xfrm>
            <a:off x="7372350" y="3619077"/>
            <a:ext cx="1234440" cy="822960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7B6689D-2806-B6FD-60B3-02B3B637FA3B}"/>
              </a:ext>
            </a:extLst>
          </p:cNvPr>
          <p:cNvSpPr/>
          <p:nvPr/>
        </p:nvSpPr>
        <p:spPr>
          <a:xfrm>
            <a:off x="7372350" y="3619077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>
                <a:solidFill>
                  <a:srgbClr val="FFFFFF"/>
                </a:solidFill>
                <a:ea typeface="+mn-lt"/>
                <a:cs typeface="+mn-lt"/>
              </a:rPr>
              <a:t>feature transformation</a:t>
            </a:r>
            <a:endParaRPr lang="fr-FR">
              <a:ea typeface="+mn-lt"/>
              <a:cs typeface="+mn-lt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F8ADEF6-66A2-9425-9C57-93B5BFD04971}"/>
              </a:ext>
            </a:extLst>
          </p:cNvPr>
          <p:cNvSpPr/>
          <p:nvPr/>
        </p:nvSpPr>
        <p:spPr>
          <a:xfrm>
            <a:off x="0" y="4798423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BC4A9EB2-DEC9-AB60-8565-931FF83DA8D4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3</a:t>
            </a:r>
            <a:endParaRPr lang="en-US" sz="9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BC6C03-DC69-F4A3-AC8E-C3BF522F9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848" y="1383167"/>
            <a:ext cx="3267076" cy="1185182"/>
          </a:xfrm>
          <a:prstGeom prst="rect">
            <a:avLst/>
          </a:prstGeom>
        </p:spPr>
      </p:pic>
      <p:sp>
        <p:nvSpPr>
          <p:cNvPr id="13" name="Flèche : droite à entaille 12">
            <a:extLst>
              <a:ext uri="{FF2B5EF4-FFF2-40B4-BE49-F238E27FC236}">
                <a16:creationId xmlns:a16="http://schemas.microsoft.com/office/drawing/2014/main" id="{D6C798F1-882D-E143-B84E-90C44A9D3822}"/>
              </a:ext>
            </a:extLst>
          </p:cNvPr>
          <p:cNvSpPr/>
          <p:nvPr/>
        </p:nvSpPr>
        <p:spPr>
          <a:xfrm>
            <a:off x="1785484" y="3851955"/>
            <a:ext cx="1114479" cy="245146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ea typeface="Calibri"/>
                <a:cs typeface="Calibri"/>
              </a:rPr>
              <a:t>+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16" name="Flèche : droite à entaille 15">
            <a:extLst>
              <a:ext uri="{FF2B5EF4-FFF2-40B4-BE49-F238E27FC236}">
                <a16:creationId xmlns:a16="http://schemas.microsoft.com/office/drawing/2014/main" id="{5449225A-90E5-6FE1-E5BE-9E7E7A181647}"/>
              </a:ext>
            </a:extLst>
          </p:cNvPr>
          <p:cNvSpPr/>
          <p:nvPr/>
        </p:nvSpPr>
        <p:spPr>
          <a:xfrm>
            <a:off x="4131355" y="3851955"/>
            <a:ext cx="994737" cy="27236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Calibri"/>
                <a:cs typeface="Calibri"/>
              </a:rPr>
              <a:t>+</a:t>
            </a:r>
            <a:endParaRPr lang="fr-FR"/>
          </a:p>
        </p:txBody>
      </p:sp>
      <p:sp>
        <p:nvSpPr>
          <p:cNvPr id="19" name="Flèche : droite à entaille 18">
            <a:extLst>
              <a:ext uri="{FF2B5EF4-FFF2-40B4-BE49-F238E27FC236}">
                <a16:creationId xmlns:a16="http://schemas.microsoft.com/office/drawing/2014/main" id="{A7A141C2-6F38-79E3-CB36-473C42E8D491}"/>
              </a:ext>
            </a:extLst>
          </p:cNvPr>
          <p:cNvSpPr/>
          <p:nvPr/>
        </p:nvSpPr>
        <p:spPr>
          <a:xfrm>
            <a:off x="6379255" y="3851955"/>
            <a:ext cx="994737" cy="272360"/>
          </a:xfrm>
          <a:prstGeom prst="notch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>
                <a:ea typeface="Calibri"/>
                <a:cs typeface="Calibri"/>
              </a:rPr>
              <a:t>+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897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FA8C8-55AE-1BFE-AFFF-B469B7D2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7CAE28-67D4-B1BE-DCBC-7FBE1BC3C9A9}"/>
              </a:ext>
            </a:extLst>
          </p:cNvPr>
          <p:cNvSpPr/>
          <p:nvPr/>
        </p:nvSpPr>
        <p:spPr>
          <a:xfrm>
            <a:off x="423454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 dirty="0" err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GraphSAGE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32A636-2D51-FCE6-E316-AFDDEEB2DCBB}"/>
              </a:ext>
            </a:extLst>
          </p:cNvPr>
          <p:cNvSpPr/>
          <p:nvPr/>
        </p:nvSpPr>
        <p:spPr>
          <a:xfrm>
            <a:off x="113212" y="881742"/>
            <a:ext cx="4318364" cy="117239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245B5C-0612-19DA-3A53-DB6FCB8F92B2}"/>
              </a:ext>
            </a:extLst>
          </p:cNvPr>
          <p:cNvSpPr/>
          <p:nvPr/>
        </p:nvSpPr>
        <p:spPr>
          <a:xfrm>
            <a:off x="437606" y="55408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E5D20CF-3816-B7CC-35EF-2D9BF10FCC19}"/>
              </a:ext>
            </a:extLst>
          </p:cNvPr>
          <p:cNvSpPr/>
          <p:nvPr/>
        </p:nvSpPr>
        <p:spPr>
          <a:xfrm>
            <a:off x="279763" y="1059541"/>
            <a:ext cx="4097744" cy="1031604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100" dirty="0" err="1">
                <a:solidFill>
                  <a:srgbClr val="1E293B"/>
                </a:solidFill>
                <a:ea typeface="+mn-lt"/>
                <a:cs typeface="+mn-lt"/>
              </a:rPr>
              <a:t>GraphSAGE</a:t>
            </a:r>
            <a:r>
              <a:rPr lang="en-US" sz="1100" dirty="0">
                <a:solidFill>
                  <a:srgbClr val="1E293B"/>
                </a:solidFill>
                <a:ea typeface="+mn-lt"/>
                <a:cs typeface="+mn-lt"/>
              </a:rPr>
              <a:t> (Graph Sample and Aggregate) is an inductive Graph Neural Network proposed by Hamilton et al. that learns a function to generate node embeddings by aggregating information from local neighborhoods, instead of learning a unique embedding for each node</a:t>
            </a:r>
            <a:endParaRPr lang="fr-FR" sz="1100"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4336863-A54A-964F-4860-4C37F598C5D8}"/>
              </a:ext>
            </a:extLst>
          </p:cNvPr>
          <p:cNvSpPr/>
          <p:nvPr/>
        </p:nvSpPr>
        <p:spPr>
          <a:xfrm>
            <a:off x="4727665" y="887187"/>
            <a:ext cx="4308566" cy="237526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970C6D9-68CC-48F2-6B85-7C7631C571FE}"/>
              </a:ext>
            </a:extLst>
          </p:cNvPr>
          <p:cNvSpPr/>
          <p:nvPr/>
        </p:nvSpPr>
        <p:spPr>
          <a:xfrm>
            <a:off x="4937760" y="505097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latin typeface="Georgia"/>
                <a:ea typeface="Calibri"/>
                <a:cs typeface="Calibri"/>
              </a:rPr>
              <a:t>Aggregator variants </a:t>
            </a:r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26C1D9-616E-0017-C49F-70FE7175D7AF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A822DF4-37F3-CA7C-0BB7-75CD5051CF45}"/>
              </a:ext>
            </a:extLst>
          </p:cNvPr>
          <p:cNvSpPr/>
          <p:nvPr/>
        </p:nvSpPr>
        <p:spPr>
          <a:xfrm>
            <a:off x="0" y="4733108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D9D0DBF-76BC-EBA7-443C-E89638D9F7C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    4</a:t>
            </a:r>
            <a:endParaRPr lang="en-US" sz="9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5134E534-DAF7-74D2-9274-78A5B2C1B01D}"/>
              </a:ext>
            </a:extLst>
          </p:cNvPr>
          <p:cNvSpPr/>
          <p:nvPr/>
        </p:nvSpPr>
        <p:spPr>
          <a:xfrm>
            <a:off x="2177" y="3095897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23CB2329-990E-D666-787F-35A1DD4AC26B}"/>
              </a:ext>
            </a:extLst>
          </p:cNvPr>
          <p:cNvSpPr/>
          <p:nvPr/>
        </p:nvSpPr>
        <p:spPr>
          <a:xfrm>
            <a:off x="4857204" y="2736667"/>
            <a:ext cx="3635830" cy="122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0F2B46"/>
              </a:solidFill>
              <a:ea typeface="Calibri"/>
              <a:cs typeface="Calibri"/>
            </a:endParaRPr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420B5243-BC2E-E10B-84F3-C1BC65F38268}"/>
              </a:ext>
            </a:extLst>
          </p:cNvPr>
          <p:cNvSpPr/>
          <p:nvPr/>
        </p:nvSpPr>
        <p:spPr>
          <a:xfrm>
            <a:off x="4706981" y="3559627"/>
            <a:ext cx="4296594" cy="9546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pPr marL="171450" indent="-171450"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    Inductive representation learning</a:t>
            </a:r>
            <a:endParaRPr lang="en-US" sz="11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scalable to large graphs through neighborhood sampling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supports unseen nodes and unseen graphs</a:t>
            </a:r>
          </a:p>
          <a:p>
            <a:pPr marL="285750" indent="-285750">
              <a:buFont typeface="Arial"/>
              <a:buChar char="•"/>
            </a:pPr>
            <a:r>
              <a:rPr lang="en-US" sz="1100">
                <a:ea typeface="+mn-lt"/>
                <a:cs typeface="+mn-lt"/>
              </a:rPr>
              <a:t>flexible aggregation architectures</a:t>
            </a:r>
            <a:endParaRPr lang="en-US" sz="1100" dirty="0">
              <a:ea typeface="Calibri"/>
              <a:cs typeface="Calibri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0AB9FB5A-E9FE-FF7E-83BD-AC19D878EBB9}"/>
              </a:ext>
            </a:extLst>
          </p:cNvPr>
          <p:cNvSpPr/>
          <p:nvPr/>
        </p:nvSpPr>
        <p:spPr>
          <a:xfrm>
            <a:off x="107767" y="2296885"/>
            <a:ext cx="4318364" cy="2364377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0251B71-25A2-413C-E622-ACC2A26A0324}"/>
              </a:ext>
            </a:extLst>
          </p:cNvPr>
          <p:cNvSpPr/>
          <p:nvPr/>
        </p:nvSpPr>
        <p:spPr>
          <a:xfrm>
            <a:off x="524690" y="2192382"/>
            <a:ext cx="3614056" cy="200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latin typeface="Georgia"/>
                <a:ea typeface="+mn-lt"/>
                <a:cs typeface="+mn-lt"/>
              </a:rPr>
              <a:t>Embedding generation </a:t>
            </a:r>
            <a:r>
              <a:rPr lang="en-US" sz="1400" b="1">
                <a:latin typeface="Georgia"/>
                <a:ea typeface="+mn-lt"/>
                <a:cs typeface="+mn-lt"/>
              </a:rPr>
              <a:t>algorithm</a:t>
            </a:r>
            <a:endParaRPr lang="en-US" sz="1400" b="1" dirty="0">
              <a:latin typeface="Georgia"/>
              <a:ea typeface="Calibri"/>
              <a:cs typeface="Calibri"/>
            </a:endParaRPr>
          </a:p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E502AE6F-CFB4-7825-255D-90B516AEE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4" y="2406962"/>
            <a:ext cx="4288971" cy="2109390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F9E2FB6-C351-021F-F087-49DDFDD6C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919" y="879023"/>
            <a:ext cx="4282165" cy="2269670"/>
          </a:xfrm>
          <a:prstGeom prst="rect">
            <a:avLst/>
          </a:prstGeom>
        </p:spPr>
      </p:pic>
      <p:sp>
        <p:nvSpPr>
          <p:cNvPr id="17" name="Text 2">
            <a:extLst>
              <a:ext uri="{FF2B5EF4-FFF2-40B4-BE49-F238E27FC236}">
                <a16:creationId xmlns:a16="http://schemas.microsoft.com/office/drawing/2014/main" id="{A8A8E77C-83FB-F56A-9EEE-C8F55BFC5B71}"/>
              </a:ext>
            </a:extLst>
          </p:cNvPr>
          <p:cNvSpPr/>
          <p:nvPr/>
        </p:nvSpPr>
        <p:spPr>
          <a:xfrm>
            <a:off x="5074919" y="3351711"/>
            <a:ext cx="3614056" cy="200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1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  <a:p>
            <a:pPr algn="ctr"/>
            <a:endParaRPr lang="en-US" sz="11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  <a:p>
            <a:pPr algn="ctr"/>
            <a:endParaRPr lang="en-US" sz="11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  <a:p>
            <a:pPr algn="ctr"/>
            <a:endParaRPr lang="en-US" sz="11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CC823387-BD65-3A3C-278D-E4D0C70B6DE3}"/>
              </a:ext>
            </a:extLst>
          </p:cNvPr>
          <p:cNvSpPr txBox="1"/>
          <p:nvPr/>
        </p:nvSpPr>
        <p:spPr>
          <a:xfrm>
            <a:off x="4762500" y="3208567"/>
            <a:ext cx="4272645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 err="1">
                <a:latin typeface="Georgia"/>
              </a:rPr>
              <a:t>GraphSAGE</a:t>
            </a:r>
            <a:r>
              <a:rPr lang="en-US" sz="1400" b="1" i="0" u="none" strike="noStrike" baseline="0" dirty="0">
                <a:latin typeface="Georgia"/>
              </a:rPr>
              <a:t> vs. GCN: Key Differences</a:t>
            </a:r>
            <a:endParaRPr lang="fr-FR" sz="1400">
              <a:ea typeface="Calibri"/>
              <a:cs typeface="Calibri"/>
            </a:endParaRPr>
          </a:p>
          <a:p>
            <a:pPr algn="ctr"/>
            <a:endParaRPr lang="fr-FR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7625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A268A-6046-C60B-991F-07C862B1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1C78374-13D1-9BDF-6868-B7DCF85D040B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GAT</a:t>
            </a:r>
            <a:endParaRPr lang="en-US" sz="22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5A0A0D-BFF3-38C9-CB23-13A9DCE3AAB2}"/>
              </a:ext>
            </a:extLst>
          </p:cNvPr>
          <p:cNvSpPr/>
          <p:nvPr/>
        </p:nvSpPr>
        <p:spPr>
          <a:xfrm>
            <a:off x="314597" y="887187"/>
            <a:ext cx="4144193" cy="18908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D0B5EA-1EA1-4009-0F74-7F29B4D62983}"/>
              </a:ext>
            </a:extLst>
          </p:cNvPr>
          <p:cNvSpPr/>
          <p:nvPr/>
        </p:nvSpPr>
        <p:spPr>
          <a:xfrm>
            <a:off x="682534" y="82622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ECD882-D6D6-B417-D9E2-56A2B680CC92}"/>
              </a:ext>
            </a:extLst>
          </p:cNvPr>
          <p:cNvSpPr/>
          <p:nvPr/>
        </p:nvSpPr>
        <p:spPr>
          <a:xfrm>
            <a:off x="492035" y="1152070"/>
            <a:ext cx="3945345" cy="157589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 </a:t>
            </a:r>
            <a:endParaRPr lang="fr-FR" sz="1200" dirty="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200" dirty="0">
              <a:solidFill>
                <a:srgbClr val="1E293B"/>
              </a:solidFill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GAT extends GCN by introducing a learnable </a:t>
            </a:r>
            <a:r>
              <a:rPr lang="en-US" sz="1200" dirty="0" err="1">
                <a:solidFill>
                  <a:srgbClr val="1E293B"/>
                </a:solidFill>
                <a:ea typeface="+mn-lt"/>
                <a:cs typeface="+mn-lt"/>
              </a:rPr>
              <a:t>attentionmechanism</a:t>
            </a:r>
            <a:r>
              <a:rPr lang="en-US" sz="1200" dirty="0">
                <a:solidFill>
                  <a:srgbClr val="1E293B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pPr>
              <a:lnSpc>
                <a:spcPct val="125000"/>
              </a:lnSpc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Each neighbor receives an importance weight during message aggregation. </a:t>
            </a:r>
            <a:endParaRPr lang="en-US" sz="12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1200">
                <a:solidFill>
                  <a:srgbClr val="1E293B"/>
                </a:solidFill>
                <a:ea typeface="+mn-lt"/>
                <a:cs typeface="+mn-lt"/>
              </a:rPr>
              <a:t>Unlike GCN, all neighbors are not treated equally.</a:t>
            </a:r>
            <a:endParaRPr lang="en-US" sz="12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2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1DC01A7-87EF-C14B-8C63-7B2C65EC1907}"/>
              </a:ext>
            </a:extLst>
          </p:cNvPr>
          <p:cNvSpPr/>
          <p:nvPr/>
        </p:nvSpPr>
        <p:spPr>
          <a:xfrm>
            <a:off x="4765765" y="876300"/>
            <a:ext cx="4183380" cy="213577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E4B8B0-6475-D62E-1211-4E90209CA164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Attention coefficient formula</a:t>
            </a:r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E41517-08FE-88D3-FB86-2B1A6A09558F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01F6010-527E-321E-BC8E-EA8EEEE6400A}"/>
              </a:ext>
            </a:extLst>
          </p:cNvPr>
          <p:cNvSpPr/>
          <p:nvPr/>
        </p:nvSpPr>
        <p:spPr>
          <a:xfrm>
            <a:off x="0" y="4733109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1F84A96-B1BE-5553-6BF9-3AD961653D42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5</a:t>
            </a:r>
            <a:endParaRPr lang="en-US" sz="9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3C706508-4FE3-64AF-1D3F-6EA32E517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674" y="1434193"/>
            <a:ext cx="4195083" cy="1268186"/>
          </a:xfrm>
          <a:prstGeom prst="rect">
            <a:avLst/>
          </a:prstGeom>
        </p:spPr>
      </p:pic>
      <p:sp>
        <p:nvSpPr>
          <p:cNvPr id="22" name="Text 2">
            <a:extLst>
              <a:ext uri="{FF2B5EF4-FFF2-40B4-BE49-F238E27FC236}">
                <a16:creationId xmlns:a16="http://schemas.microsoft.com/office/drawing/2014/main" id="{EB8ED896-3321-7C8A-D0BD-8C54EB6D3A5E}"/>
              </a:ext>
            </a:extLst>
          </p:cNvPr>
          <p:cNvSpPr/>
          <p:nvPr/>
        </p:nvSpPr>
        <p:spPr>
          <a:xfrm>
            <a:off x="459377" y="272578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Node representation computation</a:t>
            </a:r>
            <a:endParaRPr lang="fr-FR">
              <a:ea typeface="Calibri"/>
              <a:cs typeface="Calibri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A8FD246E-89FD-60F4-77E1-6EE12684577A}"/>
              </a:ext>
            </a:extLst>
          </p:cNvPr>
          <p:cNvSpPr/>
          <p:nvPr/>
        </p:nvSpPr>
        <p:spPr>
          <a:xfrm>
            <a:off x="4846319" y="3172097"/>
            <a:ext cx="3657600" cy="162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GAT vs. GCN: Key Differences</a:t>
            </a:r>
            <a:endParaRPr lang="fr-FR"/>
          </a:p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9C80BF5-3A71-1CC0-648D-8CDE9EF05F79}"/>
              </a:ext>
            </a:extLst>
          </p:cNvPr>
          <p:cNvSpPr/>
          <p:nvPr/>
        </p:nvSpPr>
        <p:spPr>
          <a:xfrm>
            <a:off x="4783182" y="3358243"/>
            <a:ext cx="4160521" cy="12268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r>
              <a:rPr lang="en-US" sz="1400">
                <a:solidFill>
                  <a:srgbClr val="0F2B46"/>
                </a:solidFill>
                <a:ea typeface="Calibri"/>
                <a:cs typeface="Calibri"/>
              </a:rPr>
              <a:t>• GCN: fixed normalization weights based on graph structure, </a:t>
            </a:r>
            <a:endParaRPr lang="fr-FR" sz="1400">
              <a:ea typeface="Calibri"/>
              <a:cs typeface="Calibri"/>
            </a:endParaRPr>
          </a:p>
          <a:p>
            <a:r>
              <a:rPr lang="en-US" sz="1400">
                <a:solidFill>
                  <a:srgbClr val="0F2B46"/>
                </a:solidFill>
                <a:ea typeface="Calibri"/>
                <a:cs typeface="Calibri"/>
              </a:rPr>
              <a:t>• GAT: adaptive weights learned through attention</a:t>
            </a:r>
            <a:endParaRPr lang="fr-FR" sz="140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D7CEA27-ED5C-D865-6DDF-DD6E87CE0D3B}"/>
              </a:ext>
            </a:extLst>
          </p:cNvPr>
          <p:cNvSpPr/>
          <p:nvPr/>
        </p:nvSpPr>
        <p:spPr>
          <a:xfrm>
            <a:off x="335280" y="3037113"/>
            <a:ext cx="4221478" cy="154250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0" descr="Une image contenant Police, texte, blanc, diagramme&#10;&#10;Le contenu généré par l’IA peut être incorrect.">
            <a:extLst>
              <a:ext uri="{FF2B5EF4-FFF2-40B4-BE49-F238E27FC236}">
                <a16:creationId xmlns:a16="http://schemas.microsoft.com/office/drawing/2014/main" id="{FBC8268C-DE6F-9CF7-E992-DE80F2377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957" y="3042558"/>
            <a:ext cx="3467099" cy="92528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E405647C-19B9-532A-BBEE-B1E04DB04CBB}"/>
              </a:ext>
            </a:extLst>
          </p:cNvPr>
          <p:cNvSpPr txBox="1"/>
          <p:nvPr/>
        </p:nvSpPr>
        <p:spPr>
          <a:xfrm>
            <a:off x="704843" y="3991368"/>
            <a:ext cx="346367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dirty="0" err="1">
                <a:ea typeface="+mn-lt"/>
                <a:cs typeface="+mn-lt"/>
              </a:rPr>
              <a:t>where</a:t>
            </a:r>
            <a:r>
              <a:rPr lang="fr-FR" sz="1100" dirty="0">
                <a:ea typeface="+mn-lt"/>
                <a:cs typeface="+mn-lt"/>
              </a:rPr>
              <a:t> N(u) </a:t>
            </a:r>
            <a:r>
              <a:rPr lang="fr-FR" sz="1100" dirty="0" err="1">
                <a:ea typeface="+mn-lt"/>
                <a:cs typeface="+mn-lt"/>
              </a:rPr>
              <a:t>includes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node</a:t>
            </a:r>
            <a:r>
              <a:rPr lang="fr-FR" sz="1100" dirty="0">
                <a:ea typeface="+mn-lt"/>
                <a:cs typeface="+mn-lt"/>
              </a:rPr>
              <a:t> u </a:t>
            </a:r>
            <a:r>
              <a:rPr lang="fr-FR" sz="1100" dirty="0" err="1">
                <a:ea typeface="+mn-lt"/>
                <a:cs typeface="+mn-lt"/>
              </a:rPr>
              <a:t>itself</a:t>
            </a:r>
            <a:endParaRPr lang="fr-FR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3567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25A93-69F3-F254-16FD-A83FD9C2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C9F4A8-2EF0-E1B1-4289-FBA25B3EFD54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GIN</a:t>
            </a:r>
            <a:endParaRPr lang="en-US" sz="22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87093D-C236-F598-20F6-F086B5696E33}"/>
              </a:ext>
            </a:extLst>
          </p:cNvPr>
          <p:cNvSpPr/>
          <p:nvPr/>
        </p:nvSpPr>
        <p:spPr>
          <a:xfrm>
            <a:off x="510540" y="876300"/>
            <a:ext cx="3964578" cy="19126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9D96BF-69BE-BE60-E519-671CB1D66FD9}"/>
              </a:ext>
            </a:extLst>
          </p:cNvPr>
          <p:cNvSpPr/>
          <p:nvPr/>
        </p:nvSpPr>
        <p:spPr>
          <a:xfrm>
            <a:off x="731520" y="875211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latin typeface="Georgia"/>
                <a:ea typeface="+mn-lt"/>
                <a:cs typeface="+mn-lt"/>
              </a:rPr>
              <a:t>Definition</a:t>
            </a:r>
            <a:endParaRPr lang="fr-F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198554-0F08-848A-0D27-E1BA2F8C2B97}"/>
              </a:ext>
            </a:extLst>
          </p:cNvPr>
          <p:cNvSpPr/>
          <p:nvPr/>
        </p:nvSpPr>
        <p:spPr>
          <a:xfrm>
            <a:off x="628106" y="1195614"/>
            <a:ext cx="3727629" cy="1499690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GIN aims to maximize the expressive power of Graph Neural Networks. </a:t>
            </a:r>
            <a:endParaRPr lang="fr-FR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It uses sum aggregation to better distinguish different graph structures. </a:t>
            </a:r>
            <a:endParaRPr lang="en-US"/>
          </a:p>
          <a:p>
            <a:pPr>
              <a:lnSpc>
                <a:spcPct val="125000"/>
              </a:lnSpc>
            </a:pPr>
            <a:r>
              <a:rPr lang="en-US" sz="1000">
                <a:solidFill>
                  <a:srgbClr val="1E293B"/>
                </a:solidFill>
                <a:ea typeface="+mn-lt"/>
                <a:cs typeface="+mn-lt"/>
              </a:rPr>
              <a:t>Unlike GCN/GAT, GIN combines neighborhood aggregation with an MLP.</a:t>
            </a: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10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AC3C9F-F5DA-2965-C9DE-A754CC691E20}"/>
              </a:ext>
            </a:extLst>
          </p:cNvPr>
          <p:cNvSpPr/>
          <p:nvPr/>
        </p:nvSpPr>
        <p:spPr>
          <a:xfrm>
            <a:off x="4760322" y="881745"/>
            <a:ext cx="4237810" cy="19616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C183678-2B89-9A53-7E71-E1359C7233C4}"/>
              </a:ext>
            </a:extLst>
          </p:cNvPr>
          <p:cNvSpPr/>
          <p:nvPr/>
        </p:nvSpPr>
        <p:spPr>
          <a:xfrm>
            <a:off x="493776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Node representation computation</a:t>
            </a:r>
            <a:endParaRPr lang="fr-FR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BB48B51-FCF3-47C7-405D-4749535E0C9F}"/>
              </a:ext>
            </a:extLst>
          </p:cNvPr>
          <p:cNvSpPr/>
          <p:nvPr/>
        </p:nvSpPr>
        <p:spPr>
          <a:xfrm>
            <a:off x="4937760" y="1576069"/>
            <a:ext cx="3474720" cy="143510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spcAft>
                <a:spcPts val="600"/>
              </a:spcAft>
            </a:pPr>
            <a:endParaRPr lang="en-US" sz="105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25A8B101-696B-B953-CA36-1E34659FCEC2}"/>
              </a:ext>
            </a:extLst>
          </p:cNvPr>
          <p:cNvSpPr/>
          <p:nvPr/>
        </p:nvSpPr>
        <p:spPr>
          <a:xfrm>
            <a:off x="0" y="4733108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800587C-D45F-B7FF-8EB0-261A9146431F}"/>
              </a:ext>
            </a:extLst>
          </p:cNvPr>
          <p:cNvSpPr/>
          <p:nvPr/>
        </p:nvSpPr>
        <p:spPr>
          <a:xfrm>
            <a:off x="489857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6</a:t>
            </a:r>
            <a:endParaRPr lang="en-US" sz="9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B389FB84-95EF-5F1D-311C-26AF939EF49C}"/>
              </a:ext>
            </a:extLst>
          </p:cNvPr>
          <p:cNvSpPr/>
          <p:nvPr/>
        </p:nvSpPr>
        <p:spPr>
          <a:xfrm>
            <a:off x="394063" y="284552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 representation computation</a:t>
            </a:r>
            <a:endParaRPr lang="fr-FR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78F7309F-9013-CF06-55C4-FD93D2EC6C11}"/>
              </a:ext>
            </a:extLst>
          </p:cNvPr>
          <p:cNvSpPr/>
          <p:nvPr/>
        </p:nvSpPr>
        <p:spPr>
          <a:xfrm>
            <a:off x="5140234" y="2959826"/>
            <a:ext cx="3657600" cy="162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GIN VS others GNNs : Key Differences</a:t>
            </a:r>
            <a:endParaRPr lang="en-US" sz="1400" b="1" dirty="0">
              <a:solidFill>
                <a:srgbClr val="0F2B46"/>
              </a:solidFill>
              <a:latin typeface="Georgia"/>
              <a:ea typeface="+mn-lt"/>
              <a:cs typeface="+mn-lt"/>
            </a:endParaRPr>
          </a:p>
          <a:p>
            <a:pPr algn="ctr"/>
            <a:endParaRPr lang="en-US" sz="1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4EB4A38-D7D2-6717-362B-D5FE0D17BDD1}"/>
              </a:ext>
            </a:extLst>
          </p:cNvPr>
          <p:cNvSpPr/>
          <p:nvPr/>
        </p:nvSpPr>
        <p:spPr>
          <a:xfrm>
            <a:off x="4661262" y="3259182"/>
            <a:ext cx="3657600" cy="891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400" dirty="0">
              <a:solidFill>
                <a:srgbClr val="0F2B46"/>
              </a:solidFill>
              <a:ea typeface="Calibri"/>
              <a:cs typeface="Calibri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633C95-231A-9A66-4488-A97375692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582" y="1316491"/>
            <a:ext cx="3649438" cy="823232"/>
          </a:xfrm>
          <a:prstGeom prst="rect">
            <a:avLst/>
          </a:prstGeom>
        </p:spPr>
      </p:pic>
      <p:sp>
        <p:nvSpPr>
          <p:cNvPr id="12" name="Shape 5">
            <a:extLst>
              <a:ext uri="{FF2B5EF4-FFF2-40B4-BE49-F238E27FC236}">
                <a16:creationId xmlns:a16="http://schemas.microsoft.com/office/drawing/2014/main" id="{99CCE843-215A-EEE4-DED4-0202A9254657}"/>
              </a:ext>
            </a:extLst>
          </p:cNvPr>
          <p:cNvSpPr/>
          <p:nvPr/>
        </p:nvSpPr>
        <p:spPr>
          <a:xfrm>
            <a:off x="471352" y="3124199"/>
            <a:ext cx="3943896" cy="155339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pic>
        <p:nvPicPr>
          <p:cNvPr id="13" name="Image 12" descr="Une image contenant Police, texte, blanc, typographie&#10;&#10;Le contenu généré par l’IA peut être incorrect.">
            <a:extLst>
              <a:ext uri="{FF2B5EF4-FFF2-40B4-BE49-F238E27FC236}">
                <a16:creationId xmlns:a16="http://schemas.microsoft.com/office/drawing/2014/main" id="{A5330059-6623-6BE2-B9FF-E206FE634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8" y="3169103"/>
            <a:ext cx="3499762" cy="56333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B3BE494-2350-2EE9-FD42-C91372346558}"/>
              </a:ext>
            </a:extLst>
          </p:cNvPr>
          <p:cNvSpPr txBox="1"/>
          <p:nvPr/>
        </p:nvSpPr>
        <p:spPr>
          <a:xfrm>
            <a:off x="550318" y="3596890"/>
            <a:ext cx="350181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dirty="0">
                <a:ea typeface="+mn-lt"/>
                <a:cs typeface="+mn-lt"/>
              </a:rPr>
              <a:t>READOUT: </a:t>
            </a:r>
            <a:r>
              <a:rPr lang="fr-FR" sz="1100" dirty="0" err="1">
                <a:ea typeface="+mn-lt"/>
                <a:cs typeface="+mn-lt"/>
              </a:rPr>
              <a:t>aggregates</a:t>
            </a:r>
            <a:r>
              <a:rPr lang="fr-FR" sz="1100" dirty="0">
                <a:ea typeface="+mn-lt"/>
                <a:cs typeface="+mn-lt"/>
              </a:rPr>
              <a:t> the </a:t>
            </a:r>
            <a:r>
              <a:rPr lang="fr-FR" sz="1100" dirty="0" err="1">
                <a:ea typeface="+mn-lt"/>
                <a:cs typeface="+mn-lt"/>
              </a:rPr>
              <a:t>node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embeddings</a:t>
            </a:r>
            <a:r>
              <a:rPr lang="fr-FR" sz="1100" dirty="0">
                <a:ea typeface="+mn-lt"/>
                <a:cs typeface="+mn-lt"/>
              </a:rPr>
              <a:t> of a graph </a:t>
            </a:r>
            <a:r>
              <a:rPr lang="fr-FR" sz="1100" dirty="0" err="1">
                <a:ea typeface="+mn-lt"/>
                <a:cs typeface="+mn-lt"/>
              </a:rPr>
              <a:t>using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summation</a:t>
            </a:r>
            <a:r>
              <a:rPr lang="fr-FR" sz="1100" dirty="0">
                <a:ea typeface="+mn-lt"/>
                <a:cs typeface="+mn-lt"/>
              </a:rPr>
              <a:t>. </a:t>
            </a:r>
            <a:endParaRPr lang="fr-FR" sz="1100">
              <a:ea typeface="Calibri"/>
              <a:cs typeface="Calibri"/>
            </a:endParaRPr>
          </a:p>
          <a:p>
            <a:r>
              <a:rPr lang="fr-FR" sz="1100" dirty="0">
                <a:ea typeface="+mn-lt"/>
                <a:cs typeface="+mn-lt"/>
              </a:rPr>
              <a:t>CONCAT: </a:t>
            </a:r>
            <a:r>
              <a:rPr lang="fr-FR" sz="1100" dirty="0" err="1">
                <a:ea typeface="+mn-lt"/>
                <a:cs typeface="+mn-lt"/>
              </a:rPr>
              <a:t>concatenates</a:t>
            </a:r>
            <a:r>
              <a:rPr lang="fr-FR" sz="1100" dirty="0">
                <a:ea typeface="+mn-lt"/>
                <a:cs typeface="+mn-lt"/>
              </a:rPr>
              <a:t> the graph </a:t>
            </a:r>
            <a:r>
              <a:rPr lang="fr-FR" sz="1100" dirty="0" err="1">
                <a:ea typeface="+mn-lt"/>
                <a:cs typeface="+mn-lt"/>
              </a:rPr>
              <a:t>representations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from</a:t>
            </a:r>
            <a:r>
              <a:rPr lang="fr-FR" sz="1100" dirty="0">
                <a:ea typeface="+mn-lt"/>
                <a:cs typeface="+mn-lt"/>
              </a:rPr>
              <a:t> all GIN </a:t>
            </a:r>
            <a:r>
              <a:rPr lang="fr-FR" sz="1100" dirty="0" err="1">
                <a:ea typeface="+mn-lt"/>
                <a:cs typeface="+mn-lt"/>
              </a:rPr>
              <a:t>layers</a:t>
            </a:r>
            <a:r>
              <a:rPr lang="fr-FR" sz="1100" dirty="0">
                <a:ea typeface="+mn-lt"/>
                <a:cs typeface="+mn-lt"/>
              </a:rPr>
              <a:t> to capture </a:t>
            </a:r>
            <a:r>
              <a:rPr lang="fr-FR" sz="1100" dirty="0" err="1">
                <a:ea typeface="+mn-lt"/>
                <a:cs typeface="+mn-lt"/>
              </a:rPr>
              <a:t>both</a:t>
            </a:r>
            <a:r>
              <a:rPr lang="fr-FR" sz="1100" dirty="0">
                <a:ea typeface="+mn-lt"/>
                <a:cs typeface="+mn-lt"/>
              </a:rPr>
              <a:t> local and global structural information.</a:t>
            </a:r>
            <a:endParaRPr lang="fr-FR" sz="1100">
              <a:ea typeface="Calibri"/>
              <a:cs typeface="Calibri"/>
            </a:endParaRPr>
          </a:p>
          <a:p>
            <a:endParaRPr lang="fr-FR" sz="1100" dirty="0">
              <a:ea typeface="Calibri"/>
              <a:cs typeface="Calibri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052EB98-3E62-CAFA-642F-D694B48FC985}"/>
              </a:ext>
            </a:extLst>
          </p:cNvPr>
          <p:cNvSpPr txBox="1"/>
          <p:nvPr/>
        </p:nvSpPr>
        <p:spPr>
          <a:xfrm>
            <a:off x="4961252" y="2224962"/>
            <a:ext cx="384186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dirty="0">
                <a:ea typeface="+mn-lt"/>
                <a:cs typeface="+mn-lt"/>
              </a:rPr>
              <a:t>ε </a:t>
            </a:r>
            <a:r>
              <a:rPr lang="fr-FR" sz="1100" dirty="0" err="1">
                <a:ea typeface="+mn-lt"/>
                <a:cs typeface="+mn-lt"/>
              </a:rPr>
              <a:t>controls</a:t>
            </a:r>
            <a:r>
              <a:rPr lang="fr-FR" sz="1100" dirty="0">
                <a:ea typeface="+mn-lt"/>
                <a:cs typeface="+mn-lt"/>
              </a:rPr>
              <a:t> the relative importance of the </a:t>
            </a:r>
            <a:r>
              <a:rPr lang="fr-FR" sz="1100" dirty="0" err="1">
                <a:ea typeface="+mn-lt"/>
                <a:cs typeface="+mn-lt"/>
              </a:rPr>
              <a:t>node's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own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features</a:t>
            </a:r>
            <a:r>
              <a:rPr lang="fr-FR" sz="1100" dirty="0">
                <a:ea typeface="+mn-lt"/>
                <a:cs typeface="+mn-lt"/>
              </a:rPr>
              <a:t> and </a:t>
            </a:r>
            <a:r>
              <a:rPr lang="fr-FR" sz="1100" dirty="0" err="1">
                <a:ea typeface="+mn-lt"/>
                <a:cs typeface="+mn-lt"/>
              </a:rPr>
              <a:t>its</a:t>
            </a:r>
            <a:r>
              <a:rPr lang="fr-FR" sz="1100" dirty="0">
                <a:ea typeface="+mn-lt"/>
                <a:cs typeface="+mn-lt"/>
              </a:rPr>
              <a:t> </a:t>
            </a:r>
            <a:r>
              <a:rPr lang="fr-FR" sz="1100" dirty="0" err="1">
                <a:ea typeface="+mn-lt"/>
                <a:cs typeface="+mn-lt"/>
              </a:rPr>
              <a:t>neighbors</a:t>
            </a:r>
            <a:r>
              <a:rPr lang="fr-FR" sz="1100" dirty="0">
                <a:ea typeface="+mn-lt"/>
                <a:cs typeface="+mn-lt"/>
              </a:rPr>
              <a:t>' </a:t>
            </a:r>
            <a:r>
              <a:rPr lang="fr-FR" sz="1100" dirty="0" err="1">
                <a:ea typeface="+mn-lt"/>
                <a:cs typeface="+mn-lt"/>
              </a:rPr>
              <a:t>features</a:t>
            </a:r>
            <a:r>
              <a:rPr lang="fr-FR" sz="1100" dirty="0">
                <a:ea typeface="+mn-lt"/>
                <a:cs typeface="+mn-lt"/>
              </a:rPr>
              <a:t>.</a:t>
            </a:r>
            <a:endParaRPr lang="fr-FR" sz="1100" dirty="0">
              <a:ea typeface="Calibri"/>
              <a:cs typeface="Calibri"/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3EC8C13A-A47A-043A-4B51-FDE5A9EBFC22}"/>
              </a:ext>
            </a:extLst>
          </p:cNvPr>
          <p:cNvSpPr/>
          <p:nvPr/>
        </p:nvSpPr>
        <p:spPr>
          <a:xfrm>
            <a:off x="4754881" y="3096984"/>
            <a:ext cx="4243253" cy="158060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pPr marL="285750" indent="-285750">
              <a:buFont typeface="Arial"/>
              <a:buChar char="•"/>
            </a:pPr>
            <a:r>
              <a:rPr lang="en-US" sz="1100" b="1" dirty="0">
                <a:ea typeface="+mn-lt"/>
                <a:cs typeface="+mn-lt"/>
              </a:rPr>
              <a:t>Injective aggregation:</a:t>
            </a:r>
            <a:r>
              <a:rPr lang="en-US" sz="1100" dirty="0">
                <a:ea typeface="+mn-lt"/>
                <a:cs typeface="+mn-lt"/>
              </a:rPr>
              <a:t> Sum aggregation enables GIN to match the discriminative power of the </a:t>
            </a:r>
            <a:r>
              <a:rPr lang="en-US" sz="1100" dirty="0" err="1">
                <a:ea typeface="+mn-lt"/>
                <a:cs typeface="+mn-lt"/>
              </a:rPr>
              <a:t>Weisfeiler</a:t>
            </a:r>
            <a:r>
              <a:rPr lang="en-US" sz="1100" dirty="0">
                <a:ea typeface="+mn-lt"/>
                <a:cs typeface="+mn-lt"/>
              </a:rPr>
              <a:t>-Lehman test. </a:t>
            </a:r>
            <a:endParaRPr lang="fr-FR" sz="11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b="1">
                <a:ea typeface="+mn-lt"/>
                <a:cs typeface="+mn-lt"/>
              </a:rPr>
              <a:t>MLP-based update:</a:t>
            </a:r>
            <a:r>
              <a:rPr lang="en-US" sz="1100">
                <a:ea typeface="+mn-lt"/>
                <a:cs typeface="+mn-lt"/>
              </a:rPr>
              <a:t> An MLP improves the expressiveness of node representations after aggregation. </a:t>
            </a:r>
            <a:endParaRPr lang="en-US" sz="11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100" b="1">
                <a:ea typeface="+mn-lt"/>
                <a:cs typeface="+mn-lt"/>
              </a:rPr>
              <a:t>Multi-layer readout:</a:t>
            </a:r>
            <a:r>
              <a:rPr lang="en-US" sz="1100">
                <a:ea typeface="+mn-lt"/>
                <a:cs typeface="+mn-lt"/>
              </a:rPr>
              <a:t> Combines representations from all layers to capture local and global graph structures. </a:t>
            </a:r>
            <a:endParaRPr lang="en-US" sz="1100" dirty="0">
              <a:ea typeface="Calibri"/>
              <a:cs typeface="Calibri"/>
            </a:endParaRPr>
          </a:p>
          <a:p>
            <a:endParaRPr lang="en-US" sz="11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7463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21349E-0E51-1229-F48D-94B79C434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ACA2060-EECD-1574-255F-864F52B4B87D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</a:rPr>
              <a:t>Datasets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DE5EDC-359D-25E5-6DA9-90C3410069A2}"/>
              </a:ext>
            </a:extLst>
          </p:cNvPr>
          <p:cNvSpPr/>
          <p:nvPr/>
        </p:nvSpPr>
        <p:spPr>
          <a:xfrm>
            <a:off x="510540" y="914400"/>
            <a:ext cx="2598420" cy="360970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EF71A65-BE98-C33B-F404-6B450BBB7233}"/>
              </a:ext>
            </a:extLst>
          </p:cNvPr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16A375E-F37D-D4F3-CCA3-57F5C8B429F6}"/>
              </a:ext>
            </a:extLst>
          </p:cNvPr>
          <p:cNvSpPr/>
          <p:nvPr/>
        </p:nvSpPr>
        <p:spPr>
          <a:xfrm>
            <a:off x="6858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Citation Networks (Node Classification — GCN &amp; GAT)</a:t>
            </a:r>
            <a:endParaRPr lang="fr-FR" sz="800">
              <a:ea typeface="Calibri"/>
              <a:cs typeface="Calibri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1689C56-4462-3ECD-D3C0-B2A2E9E6F2DD}"/>
              </a:ext>
            </a:extLst>
          </p:cNvPr>
          <p:cNvSpPr/>
          <p:nvPr/>
        </p:nvSpPr>
        <p:spPr>
          <a:xfrm>
            <a:off x="685800" y="141732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800">
                <a:solidFill>
                  <a:srgbClr val="64748B"/>
                </a:solidFill>
                <a:ea typeface="+mn-lt"/>
                <a:cs typeface="+mn-lt"/>
              </a:rPr>
              <a:t>Cora (2708 nodes, 5278 edges, 1433 features, 7 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classes)</a:t>
            </a:r>
            <a:endParaRPr lang="en-US" sz="800" dirty="0"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800" dirty="0" err="1">
                <a:solidFill>
                  <a:srgbClr val="64748B"/>
                </a:solidFill>
                <a:ea typeface="+mn-lt"/>
                <a:cs typeface="+mn-lt"/>
              </a:rPr>
              <a:t>CiteSeer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 (3327 nodes, 4552 edges, 3703 features, 6 classes)</a:t>
            </a:r>
            <a:endParaRPr lang="en-US" sz="800" dirty="0">
              <a:ea typeface="+mn-lt"/>
              <a:cs typeface="+mn-lt"/>
            </a:endParaRPr>
          </a:p>
          <a:p>
            <a:pPr>
              <a:lnSpc>
                <a:spcPct val="125000"/>
              </a:lnSpc>
            </a:pPr>
            <a:r>
              <a:rPr lang="en-US" sz="800">
                <a:solidFill>
                  <a:srgbClr val="64748B"/>
                </a:solidFill>
                <a:ea typeface="+mn-lt"/>
                <a:cs typeface="+mn-lt"/>
              </a:rPr>
              <a:t>PubMed (19717 nodes, 44324 edges, 500 features, 3 </a:t>
            </a:r>
            <a:r>
              <a:rPr lang="en-US" sz="800" dirty="0">
                <a:solidFill>
                  <a:srgbClr val="64748B"/>
                </a:solidFill>
                <a:ea typeface="+mn-lt"/>
                <a:cs typeface="+mn-lt"/>
              </a:rPr>
              <a:t>classes)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8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B753B68-2C21-196D-4D63-E12B49C13F34}"/>
              </a:ext>
            </a:extLst>
          </p:cNvPr>
          <p:cNvSpPr/>
          <p:nvPr/>
        </p:nvSpPr>
        <p:spPr>
          <a:xfrm>
            <a:off x="3383280" y="919842"/>
            <a:ext cx="2560320" cy="36205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CD447C0-E35B-ED79-D922-0B74CE408B07}"/>
              </a:ext>
            </a:extLst>
          </p:cNvPr>
          <p:cNvSpPr/>
          <p:nvPr/>
        </p:nvSpPr>
        <p:spPr>
          <a:xfrm>
            <a:off x="3383280" y="91440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B70423B-F2A4-1D95-9037-4778EAD22E3C}"/>
              </a:ext>
            </a:extLst>
          </p:cNvPr>
          <p:cNvSpPr/>
          <p:nvPr/>
        </p:nvSpPr>
        <p:spPr>
          <a:xfrm>
            <a:off x="35204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 Classification Benchmarks (GIN)</a:t>
            </a:r>
            <a:endParaRPr lang="fr-FR" sz="900"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0F2B46"/>
              </a:solidFill>
              <a:latin typeface="Georgi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5E0D06B-BBDA-E02D-40AE-729DC649730A}"/>
              </a:ext>
            </a:extLst>
          </p:cNvPr>
          <p:cNvSpPr/>
          <p:nvPr/>
        </p:nvSpPr>
        <p:spPr>
          <a:xfrm>
            <a:off x="3520440" y="1400992"/>
            <a:ext cx="2286000" cy="2664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IMDB-BINARY (1000 graphs, 2 classes, 19.8 avg. nodes) 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IMDB-MULTI (1500 graphs, 3 classes, 13.0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REDDIT-BINARY (2000 graphs, 2 classes, 429.6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REDDIT-MULTI-5K (5000 graphs, 5 classes, 508.5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COLLAB (5000 graphs, 3 classes, 74.5 avg. nodes) 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Calibri"/>
                <a:cs typeface="Calibri"/>
              </a:rPr>
              <a:t>MUTAG (188 graphs, 2 classes, 17.9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PROTEINS (1113 graphs, 2 classes, 39.1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PTC (344 graphs, 2 classes, 25.5 avg. nodes) 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NCI1 (4110 graphs, 2 classes, 29.8 avg. nodes)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b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15AA64F-4C62-29EA-6F1C-2D8A6111024E}"/>
              </a:ext>
            </a:extLst>
          </p:cNvPr>
          <p:cNvSpPr/>
          <p:nvPr/>
        </p:nvSpPr>
        <p:spPr>
          <a:xfrm>
            <a:off x="6217920" y="925285"/>
            <a:ext cx="2560320" cy="36586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9DC34E4-3868-35EC-F074-1DAE08DEFB90}"/>
              </a:ext>
            </a:extLst>
          </p:cNvPr>
          <p:cNvSpPr/>
          <p:nvPr/>
        </p:nvSpPr>
        <p:spPr>
          <a:xfrm>
            <a:off x="6217920" y="914400"/>
            <a:ext cx="2560320" cy="54864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E1402A7-EC44-9A35-8B5A-DFD56B919E70}"/>
              </a:ext>
            </a:extLst>
          </p:cNvPr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Additional Real-world and Heterophilic Datasets (GCN &amp; GAT)</a:t>
            </a:r>
            <a:endParaRPr lang="fr-FR" sz="900"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E57185-D748-BD20-9AB4-8A694380AB33}"/>
              </a:ext>
            </a:extLst>
          </p:cNvPr>
          <p:cNvSpPr/>
          <p:nvPr/>
        </p:nvSpPr>
        <p:spPr>
          <a:xfrm>
            <a:off x="6382296" y="1417320"/>
            <a:ext cx="2302327" cy="2838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Cornell (183 nodes, 280 edges, 5 classes)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Texas (183 nodes, 295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Wisconsin (251 nodes, 466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Chameleon (2277 nodes, 31421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Squirrel (5201 nodes, 198493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Actor (7600 nodes, 26752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Roman-Empire (22662 nodes, 32927 edges, 18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Amazon-Ratings (24492 nodes, 93050 edges, 5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Minesweeper (10000 nodes, 39402 edges, 2 classes)</a:t>
            </a:r>
            <a:endParaRPr lang="fr-FR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 dirty="0" err="1">
                <a:solidFill>
                  <a:srgbClr val="64748B"/>
                </a:solidFill>
                <a:ea typeface="+mn-lt"/>
                <a:cs typeface="+mn-lt"/>
              </a:rPr>
              <a:t>Tolokers</a:t>
            </a:r>
            <a:r>
              <a:rPr lang="en-US" sz="900" dirty="0">
                <a:solidFill>
                  <a:srgbClr val="64748B"/>
                </a:solidFill>
                <a:ea typeface="+mn-lt"/>
                <a:cs typeface="+mn-lt"/>
              </a:rPr>
              <a:t> (11758 nodes, 519000 edges, 2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r>
              <a:rPr lang="en-US" sz="900">
                <a:solidFill>
                  <a:srgbClr val="64748B"/>
                </a:solidFill>
                <a:ea typeface="+mn-lt"/>
                <a:cs typeface="+mn-lt"/>
              </a:rPr>
              <a:t>Questions (48921 nodes, 153540 edges, 2 classes)</a:t>
            </a:r>
            <a:endParaRPr lang="en-US" sz="900">
              <a:ea typeface="Calibri"/>
              <a:cs typeface="Calibri"/>
            </a:endParaRPr>
          </a:p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BCBAD5A-534A-8E78-0F9C-A0040EFC771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C445CBA-01F1-E747-9112-6732C645B640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GNNs For the </a:t>
            </a:r>
            <a:r>
              <a:rPr lang="en-US" sz="900" dirty="0" err="1">
                <a:solidFill>
                  <a:srgbClr val="94A3B8"/>
                </a:solidFill>
                <a:ea typeface="Calibri"/>
                <a:cs typeface="Calibri"/>
              </a:rPr>
              <a:t>reproductibility</a:t>
            </a:r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 we use Docker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 dirty="0">
                <a:solidFill>
                  <a:schemeClr val="bg1"/>
                </a:solidFill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11274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593B8-7991-947F-C975-FBC82CC39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2BAC83-7191-E769-D7FD-22304142E87C}"/>
              </a:ext>
            </a:extLst>
          </p:cNvPr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00" b="1">
                <a:solidFill>
                  <a:srgbClr val="0F2B46"/>
                </a:solidFill>
                <a:latin typeface="Georgia"/>
              </a:rPr>
              <a:t>Metrics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BEAE13-175E-5084-1642-7E06CDF83093}"/>
              </a:ext>
            </a:extLst>
          </p:cNvPr>
          <p:cNvSpPr/>
          <p:nvPr/>
        </p:nvSpPr>
        <p:spPr>
          <a:xfrm>
            <a:off x="510540" y="914400"/>
            <a:ext cx="2598420" cy="360970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6EF8F80-5CFC-9C92-E832-31D5943FDCBA}"/>
              </a:ext>
            </a:extLst>
          </p:cNvPr>
          <p:cNvSpPr/>
          <p:nvPr/>
        </p:nvSpPr>
        <p:spPr>
          <a:xfrm>
            <a:off x="548640" y="914400"/>
            <a:ext cx="256032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F413AF-3DC7-836D-E065-BFCB70735095}"/>
              </a:ext>
            </a:extLst>
          </p:cNvPr>
          <p:cNvSpPr/>
          <p:nvPr/>
        </p:nvSpPr>
        <p:spPr>
          <a:xfrm>
            <a:off x="68580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Accuracy</a:t>
            </a:r>
            <a:endParaRPr lang="en-US" sz="800" b="1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257F157-05A4-2B63-1C2C-848E71E1102B}"/>
              </a:ext>
            </a:extLst>
          </p:cNvPr>
          <p:cNvSpPr/>
          <p:nvPr/>
        </p:nvSpPr>
        <p:spPr>
          <a:xfrm>
            <a:off x="3383280" y="919842"/>
            <a:ext cx="2560320" cy="36205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t"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390185-6EF7-C29E-3E36-C6CC82B5D443}"/>
              </a:ext>
            </a:extLst>
          </p:cNvPr>
          <p:cNvSpPr/>
          <p:nvPr/>
        </p:nvSpPr>
        <p:spPr>
          <a:xfrm>
            <a:off x="3383280" y="914400"/>
            <a:ext cx="2560320" cy="54864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6A81EF7-65DC-8359-C728-49E9B8B698B9}"/>
              </a:ext>
            </a:extLst>
          </p:cNvPr>
          <p:cNvSpPr/>
          <p:nvPr/>
        </p:nvSpPr>
        <p:spPr>
          <a:xfrm>
            <a:off x="352044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f1-micro </a:t>
            </a:r>
            <a:r>
              <a:rPr lang="en-US" sz="9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average</a:t>
            </a:r>
            <a:endParaRPr lang="en-US" sz="9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  <a:p>
            <a:pPr marL="0" indent="0" algn="ctr">
              <a:buNone/>
            </a:pPr>
            <a:endParaRPr lang="en-US" sz="900" b="1" dirty="0">
              <a:solidFill>
                <a:srgbClr val="0F2B46"/>
              </a:solidFill>
              <a:latin typeface="Georgia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24A338C-9328-762D-9213-622D84C0A949}"/>
              </a:ext>
            </a:extLst>
          </p:cNvPr>
          <p:cNvSpPr/>
          <p:nvPr/>
        </p:nvSpPr>
        <p:spPr>
          <a:xfrm>
            <a:off x="3520440" y="3197134"/>
            <a:ext cx="2302328" cy="705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8A052AB-14E8-A0FB-FD36-F40403554008}"/>
              </a:ext>
            </a:extLst>
          </p:cNvPr>
          <p:cNvSpPr/>
          <p:nvPr/>
        </p:nvSpPr>
        <p:spPr>
          <a:xfrm>
            <a:off x="6217920" y="925285"/>
            <a:ext cx="2560320" cy="365868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20F9CED-AAE2-38F1-33E2-F839EB06193F}"/>
              </a:ext>
            </a:extLst>
          </p:cNvPr>
          <p:cNvSpPr/>
          <p:nvPr/>
        </p:nvSpPr>
        <p:spPr>
          <a:xfrm>
            <a:off x="6217920" y="914400"/>
            <a:ext cx="2560320" cy="54864"/>
          </a:xfrm>
          <a:prstGeom prst="rect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57F7B92-CE2B-81B9-BF6B-C6F45B563CBB}"/>
              </a:ext>
            </a:extLst>
          </p:cNvPr>
          <p:cNvSpPr/>
          <p:nvPr/>
        </p:nvSpPr>
        <p:spPr>
          <a:xfrm>
            <a:off x="635508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>
                <a:solidFill>
                  <a:srgbClr val="0F2B46"/>
                </a:solidFill>
                <a:latin typeface="Georgia"/>
                <a:ea typeface="Calibri"/>
                <a:cs typeface="Calibri"/>
              </a:rPr>
              <a:t>f1-macro average</a:t>
            </a:r>
            <a:endParaRPr lang="en-US" sz="9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7B1EA93-6A0A-5E97-A6D1-D82F0E38156F}"/>
              </a:ext>
            </a:extLst>
          </p:cNvPr>
          <p:cNvSpPr/>
          <p:nvPr/>
        </p:nvSpPr>
        <p:spPr>
          <a:xfrm>
            <a:off x="6365969" y="3218906"/>
            <a:ext cx="2307768" cy="1037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endParaRPr lang="en-US" sz="9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2766751-E01F-2CAA-1047-AE7FACF900CB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38FEE0A-376D-627F-D41A-E16EC93AB448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GNNs For the </a:t>
            </a:r>
            <a:r>
              <a:rPr lang="en-US" sz="900" dirty="0" err="1">
                <a:solidFill>
                  <a:srgbClr val="94A3B8"/>
                </a:solidFill>
                <a:ea typeface="Calibri"/>
                <a:cs typeface="Calibri"/>
              </a:rPr>
              <a:t>reproductibility</a:t>
            </a:r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 we use Docker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 dirty="0">
                <a:solidFill>
                  <a:schemeClr val="bg1"/>
                </a:solidFill>
                <a:ea typeface="Calibri"/>
                <a:cs typeface="Calibri"/>
              </a:rPr>
              <a:t>8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AC7A44-1DDC-8F9C-C84F-3049AA8055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21" y="2179864"/>
            <a:ext cx="2177144" cy="77832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4868221-5362-7F84-75EF-DFB24080D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2055" y="2028825"/>
            <a:ext cx="2456091" cy="547009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4995F41-37EE-62C6-A37D-AD0AE30FB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3021" y="2046515"/>
            <a:ext cx="2471058" cy="718457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D3ECB8A5-83F3-D8E0-AD81-3CA9FCC23FAB}"/>
              </a:ext>
            </a:extLst>
          </p:cNvPr>
          <p:cNvSpPr txBox="1"/>
          <p:nvPr/>
        </p:nvSpPr>
        <p:spPr>
          <a:xfrm>
            <a:off x="6290063" y="2786207"/>
            <a:ext cx="2459896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100" dirty="0" err="1">
                <a:ea typeface="+mn-lt"/>
                <a:cs typeface="+mn-lt"/>
              </a:rPr>
              <a:t>where</a:t>
            </a:r>
            <a:r>
              <a:rPr lang="fr-FR" sz="1100" dirty="0">
                <a:ea typeface="+mn-lt"/>
                <a:cs typeface="+mn-lt"/>
              </a:rPr>
              <a:t> C </a:t>
            </a:r>
            <a:r>
              <a:rPr lang="fr-FR" sz="1100" dirty="0" err="1">
                <a:ea typeface="+mn-lt"/>
                <a:cs typeface="+mn-lt"/>
              </a:rPr>
              <a:t>is</a:t>
            </a:r>
            <a:r>
              <a:rPr lang="fr-FR" sz="1100" dirty="0">
                <a:ea typeface="+mn-lt"/>
                <a:cs typeface="+mn-lt"/>
              </a:rPr>
              <a:t> the </a:t>
            </a:r>
            <a:r>
              <a:rPr lang="fr-FR" sz="1100" dirty="0" err="1">
                <a:ea typeface="+mn-lt"/>
                <a:cs typeface="+mn-lt"/>
              </a:rPr>
              <a:t>number</a:t>
            </a:r>
            <a:r>
              <a:rPr lang="fr-FR" sz="1100" dirty="0">
                <a:ea typeface="+mn-lt"/>
                <a:cs typeface="+mn-lt"/>
              </a:rPr>
              <a:t> of classes and F1i </a:t>
            </a:r>
            <a:r>
              <a:rPr lang="fr-FR" sz="1100" dirty="0" err="1">
                <a:ea typeface="+mn-lt"/>
                <a:cs typeface="+mn-lt"/>
              </a:rPr>
              <a:t>denotes</a:t>
            </a:r>
            <a:r>
              <a:rPr lang="fr-FR" sz="1100" dirty="0">
                <a:ea typeface="+mn-lt"/>
                <a:cs typeface="+mn-lt"/>
              </a:rPr>
              <a:t> the F1-score of class i.</a:t>
            </a:r>
            <a:endParaRPr lang="fr-FR" sz="11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3919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>
                <a:solidFill>
                  <a:srgbClr val="22D3EE"/>
                </a:solidFill>
                <a:latin typeface="Georgia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Evaluation &amp; Results</a:t>
            </a:r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94A3B8"/>
                </a:solidFill>
                <a:ea typeface="+mn-lt"/>
                <a:cs typeface="+mn-lt"/>
              </a:rPr>
              <a:t>23  datasets · node classification models (GAT/GCN/GIN/</a:t>
            </a:r>
            <a:r>
              <a:rPr lang="en-US" sz="1600" dirty="0" err="1">
                <a:solidFill>
                  <a:srgbClr val="94A3B8"/>
                </a:solidFill>
                <a:ea typeface="+mn-lt"/>
                <a:cs typeface="+mn-lt"/>
              </a:rPr>
              <a:t>GraphSAGE</a:t>
            </a:r>
            <a:r>
              <a:rPr lang="en-US" sz="1600" dirty="0">
                <a:solidFill>
                  <a:srgbClr val="94A3B8"/>
                </a:solidFill>
                <a:ea typeface="+mn-lt"/>
                <a:cs typeface="+mn-lt"/>
              </a:rPr>
              <a:t>) · 3 metric </a:t>
            </a:r>
            <a:endParaRPr lang="en-US" sz="1600" dirty="0">
              <a:solidFill>
                <a:srgbClr val="94A3B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0540" y="2177"/>
            <a:ext cx="82296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Accuracy&amp;f1-micro&amp;f1-macro  ↑-GCN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3566" y="4377695"/>
            <a:ext cx="8426631" cy="364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GCN1: Results reported by Kipf and Welling (2017)). And GCN2: results obtained from our implementation </a:t>
            </a: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Values in parentheses correspond to results after removing near-duplicate nodes for Chameleon and Squirrel.</a:t>
            </a:r>
            <a:endParaRPr lang="en-US" sz="110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  9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29CA513B-BF56-E5F9-8CEE-351F8D7DB0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34445"/>
              </p:ext>
            </p:extLst>
          </p:nvPr>
        </p:nvGraphicFramePr>
        <p:xfrm>
          <a:off x="93784" y="399696"/>
          <a:ext cx="8691625" cy="393278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8325">
                  <a:extLst>
                    <a:ext uri="{9D8B030D-6E8A-4147-A177-3AD203B41FA5}">
                      <a16:colId xmlns:a16="http://schemas.microsoft.com/office/drawing/2014/main" val="3326223426"/>
                    </a:ext>
                  </a:extLst>
                </a:gridCol>
                <a:gridCol w="1738325">
                  <a:extLst>
                    <a:ext uri="{9D8B030D-6E8A-4147-A177-3AD203B41FA5}">
                      <a16:colId xmlns:a16="http://schemas.microsoft.com/office/drawing/2014/main" val="2047676404"/>
                    </a:ext>
                  </a:extLst>
                </a:gridCol>
                <a:gridCol w="1738325">
                  <a:extLst>
                    <a:ext uri="{9D8B030D-6E8A-4147-A177-3AD203B41FA5}">
                      <a16:colId xmlns:a16="http://schemas.microsoft.com/office/drawing/2014/main" val="1038792918"/>
                    </a:ext>
                  </a:extLst>
                </a:gridCol>
                <a:gridCol w="1738325">
                  <a:extLst>
                    <a:ext uri="{9D8B030D-6E8A-4147-A177-3AD203B41FA5}">
                      <a16:colId xmlns:a16="http://schemas.microsoft.com/office/drawing/2014/main" val="3756143712"/>
                    </a:ext>
                  </a:extLst>
                </a:gridCol>
                <a:gridCol w="1738325">
                  <a:extLst>
                    <a:ext uri="{9D8B030D-6E8A-4147-A177-3AD203B41FA5}">
                      <a16:colId xmlns:a16="http://schemas.microsoft.com/office/drawing/2014/main" val="1307951792"/>
                    </a:ext>
                  </a:extLst>
                </a:gridCol>
              </a:tblGrid>
              <a:tr h="245799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 err="1"/>
                        <a:t>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GCN1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GCN2 (%)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 sz="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09660"/>
                  </a:ext>
                </a:extLst>
              </a:tr>
              <a:tr h="245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dirty="0" err="1"/>
                        <a:t>Accuracy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dirty="0" err="1"/>
                        <a:t>Accuracy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/>
                        <a:t>F1-micro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/>
                        <a:t>F1-macro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958311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Cora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81.50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81.60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81.60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80.63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813294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Citeseer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71.70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71.70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68.96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714411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PubMed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79.00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3493856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Cornell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46.14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670297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Texas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70.83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39.35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7580976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Wisconsin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66.36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66.36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54.42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175585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Chameleon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48.94 (46.84)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48.94 (46.84)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47.10 (46.26)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4983693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Squirrel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32.30 (31.96)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32.30 (31.96)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31.66 (31.14)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009765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36.81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36.81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33.05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4448428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Roman-Empire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25.59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25.59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15.29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993584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Amazon-Ratings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38.17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17.80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13478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Minesweeper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80.13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80.13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45.91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798113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Tolokers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78.20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46.14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641299"/>
                  </a:ext>
                </a:extLst>
              </a:tr>
              <a:tr h="245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Questions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--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97.03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97.03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49.25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922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6BA682-1565-E180-4F82-4360CDEB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9AEFF8-855C-D6AC-A23B-045AEF89DE4E}"/>
              </a:ext>
            </a:extLst>
          </p:cNvPr>
          <p:cNvSpPr/>
          <p:nvPr/>
        </p:nvSpPr>
        <p:spPr>
          <a:xfrm>
            <a:off x="548640" y="11103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f1-micro&amp;f1-macro  ↑-</a:t>
            </a:r>
            <a:r>
              <a:rPr lang="en-US" sz="2400" b="1" dirty="0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GraphSAGE</a:t>
            </a:r>
          </a:p>
          <a:p>
            <a:pPr algn="ctr"/>
            <a:endParaRPr lang="en-US" sz="2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E64BB15-B4F6-CF92-BB8F-814B2E77C477}"/>
              </a:ext>
            </a:extLst>
          </p:cNvPr>
          <p:cNvSpPr/>
          <p:nvPr/>
        </p:nvSpPr>
        <p:spPr>
          <a:xfrm>
            <a:off x="548640" y="4134142"/>
            <a:ext cx="8046720" cy="27783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C014A28-9DB6-7113-F6E7-63B00CCC22F4}"/>
              </a:ext>
            </a:extLst>
          </p:cNvPr>
          <p:cNvSpPr/>
          <p:nvPr/>
        </p:nvSpPr>
        <p:spPr>
          <a:xfrm>
            <a:off x="238623" y="45246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GraphSAGE1: results reported by Hamilton et al. (2017). And  GraphSAGE2: results obtained from our implementation </a:t>
            </a:r>
            <a:endParaRPr lang="en-US" sz="105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2960AC15-48CF-9FD2-1FC7-B4568D17E032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DDAAEE9-CF28-F49A-14DB-61E3E1F0B3B8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 10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A097E4F7-F532-1F28-3FCC-E4B0F8247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719711"/>
              </p:ext>
            </p:extLst>
          </p:nvPr>
        </p:nvGraphicFramePr>
        <p:xfrm>
          <a:off x="239485" y="544285"/>
          <a:ext cx="8782005" cy="396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02328">
                  <a:extLst>
                    <a:ext uri="{9D8B030D-6E8A-4147-A177-3AD203B41FA5}">
                      <a16:colId xmlns:a16="http://schemas.microsoft.com/office/drawing/2014/main" val="3880810803"/>
                    </a:ext>
                  </a:extLst>
                </a:gridCol>
                <a:gridCol w="2338686">
                  <a:extLst>
                    <a:ext uri="{9D8B030D-6E8A-4147-A177-3AD203B41FA5}">
                      <a16:colId xmlns:a16="http://schemas.microsoft.com/office/drawing/2014/main" val="2832934404"/>
                    </a:ext>
                  </a:extLst>
                </a:gridCol>
                <a:gridCol w="1431849">
                  <a:extLst>
                    <a:ext uri="{9D8B030D-6E8A-4147-A177-3AD203B41FA5}">
                      <a16:colId xmlns:a16="http://schemas.microsoft.com/office/drawing/2014/main" val="2120996745"/>
                    </a:ext>
                  </a:extLst>
                </a:gridCol>
                <a:gridCol w="1479575">
                  <a:extLst>
                    <a:ext uri="{9D8B030D-6E8A-4147-A177-3AD203B41FA5}">
                      <a16:colId xmlns:a16="http://schemas.microsoft.com/office/drawing/2014/main" val="1799814976"/>
                    </a:ext>
                  </a:extLst>
                </a:gridCol>
                <a:gridCol w="1129567">
                  <a:extLst>
                    <a:ext uri="{9D8B030D-6E8A-4147-A177-3AD203B41FA5}">
                      <a16:colId xmlns:a16="http://schemas.microsoft.com/office/drawing/2014/main" val="2195313823"/>
                    </a:ext>
                  </a:extLst>
                </a:gridCol>
              </a:tblGrid>
              <a:tr h="147305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 err="1">
                          <a:effectLst/>
                        </a:rPr>
                        <a:t>Agg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>
                          <a:effectLst/>
                        </a:rPr>
                        <a:t>GraphSAGE1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>
                          <a:effectLst/>
                        </a:rPr>
                        <a:t>GraphSAGE2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6065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 b="0">
                          <a:effectLst/>
                        </a:rPr>
                        <a:t>f1-micro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 b="0">
                          <a:effectLst/>
                        </a:rPr>
                        <a:t>f1-micro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 b="0">
                          <a:effectLst/>
                        </a:rPr>
                        <a:t>f1-macro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415037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PPI</a:t>
                      </a:r>
                      <a:endParaRPr lang="fr-FR" sz="1000" dirty="0">
                        <a:effectLst/>
                      </a:endParaRP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50.00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51.13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30.33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2406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59.80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57.62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41.19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50017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61.20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60.29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45.40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4744475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60.00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59.11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43.35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88596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Cora</a:t>
                      </a:r>
                      <a:endParaRPr lang="fr-FR" sz="1000" dirty="0">
                        <a:effectLst/>
                      </a:endParaRP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81.40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80.12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719850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83.20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82.54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17449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80.20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78.24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818776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81.20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80.85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957330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 err="1">
                          <a:effectLst/>
                        </a:rPr>
                        <a:t>Citeseer</a:t>
                      </a: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73.00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67.25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107003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70.00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64.74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36021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68.80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63.77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724470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69.00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63.85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891419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PubMed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86.40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85.58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257458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90.00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89.78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338567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89.60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89.14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761486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88.80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88.37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81419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Cornell</a:t>
                      </a:r>
                      <a:endParaRPr lang="fr-FR" sz="1000" dirty="0">
                        <a:effectLst/>
                      </a:endParaRP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67.80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49.87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24968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71.19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52.16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519535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77.97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57.39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607841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64.41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48.33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855485"/>
                  </a:ext>
                </a:extLst>
              </a:tr>
              <a:tr h="147305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Texas</a:t>
                      </a:r>
                      <a:endParaRPr lang="fr-FR" sz="1000" dirty="0">
                        <a:effectLst/>
                      </a:endParaRP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64.41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35.55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698299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79.66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48.23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327802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81.36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56.97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495898"/>
                  </a:ext>
                </a:extLst>
              </a:tr>
              <a:tr h="147305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66.10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38.85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035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201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BEB332-EF4A-2F5F-D817-4AFEB5428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B80D0E-5FF6-68BA-B99D-B210B36C073E}"/>
              </a:ext>
            </a:extLst>
          </p:cNvPr>
          <p:cNvSpPr/>
          <p:nvPr/>
        </p:nvSpPr>
        <p:spPr>
          <a:xfrm>
            <a:off x="510540" y="2177"/>
            <a:ext cx="8229600" cy="809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f1-micro&amp;f1-macro  ↑-</a:t>
            </a:r>
            <a:r>
              <a:rPr lang="en-US" sz="2400" b="1" dirty="0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GraphSAGE</a:t>
            </a:r>
          </a:p>
          <a:p>
            <a:pPr algn="ctr"/>
            <a:endParaRPr lang="en-US" sz="2400" b="1" dirty="0">
              <a:solidFill>
                <a:srgbClr val="0F2B46"/>
              </a:solidFill>
              <a:latin typeface="Georgia"/>
              <a:ea typeface="Calibri"/>
              <a:cs typeface="Calibri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43631EB-BD0A-5DEC-19E6-138D07CADAC3}"/>
              </a:ext>
            </a:extLst>
          </p:cNvPr>
          <p:cNvSpPr/>
          <p:nvPr/>
        </p:nvSpPr>
        <p:spPr>
          <a:xfrm>
            <a:off x="456337" y="4415795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GraphSAGE1: results reported by Hamilton et al. (2017). And GraphSAGE2: results obtained from our implementation </a:t>
            </a:r>
            <a:endParaRPr lang="fr-FR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EB54A5A5-81B6-0DE3-44C0-3112C06AA45F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C20F80-BA61-85FD-FB84-4ADD1B550880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 11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C8A218D-7684-23E3-4AA6-B6C9DA064A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419679"/>
              </p:ext>
            </p:extLst>
          </p:nvPr>
        </p:nvGraphicFramePr>
        <p:xfrm>
          <a:off x="326571" y="408214"/>
          <a:ext cx="8598608" cy="3962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2158">
                  <a:extLst>
                    <a:ext uri="{9D8B030D-6E8A-4147-A177-3AD203B41FA5}">
                      <a16:colId xmlns:a16="http://schemas.microsoft.com/office/drawing/2014/main" val="3880810803"/>
                    </a:ext>
                  </a:extLst>
                </a:gridCol>
                <a:gridCol w="2289846">
                  <a:extLst>
                    <a:ext uri="{9D8B030D-6E8A-4147-A177-3AD203B41FA5}">
                      <a16:colId xmlns:a16="http://schemas.microsoft.com/office/drawing/2014/main" val="2832934404"/>
                    </a:ext>
                  </a:extLst>
                </a:gridCol>
                <a:gridCol w="1401948">
                  <a:extLst>
                    <a:ext uri="{9D8B030D-6E8A-4147-A177-3AD203B41FA5}">
                      <a16:colId xmlns:a16="http://schemas.microsoft.com/office/drawing/2014/main" val="2120996745"/>
                    </a:ext>
                  </a:extLst>
                </a:gridCol>
                <a:gridCol w="1448677">
                  <a:extLst>
                    <a:ext uri="{9D8B030D-6E8A-4147-A177-3AD203B41FA5}">
                      <a16:colId xmlns:a16="http://schemas.microsoft.com/office/drawing/2014/main" val="1799814976"/>
                    </a:ext>
                  </a:extLst>
                </a:gridCol>
                <a:gridCol w="1105979">
                  <a:extLst>
                    <a:ext uri="{9D8B030D-6E8A-4147-A177-3AD203B41FA5}">
                      <a16:colId xmlns:a16="http://schemas.microsoft.com/office/drawing/2014/main" val="2195313823"/>
                    </a:ext>
                  </a:extLst>
                </a:gridCol>
              </a:tblGrid>
              <a:tr h="138798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 dirty="0" err="1">
                          <a:effectLst/>
                        </a:rPr>
                        <a:t>Agg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>
                          <a:effectLst/>
                        </a:rPr>
                        <a:t>GraphSAGE1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b="1">
                          <a:effectLst/>
                        </a:rPr>
                        <a:t>GraphSAGE2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756065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f1-micro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f1-micro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f1-macro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415037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Wisconsin</a:t>
                      </a:r>
                      <a:endParaRPr lang="fr-FR" sz="1000" dirty="0">
                        <a:effectLst/>
                      </a:endParaRPr>
                    </a:p>
                    <a:p>
                      <a:pPr lvl="0">
                        <a:buNone/>
                      </a:pP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61.25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35.53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669065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75.00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44.05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700230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77.50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48.37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717421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55.00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28.28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892361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Actor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27.84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23.80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603657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33.43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30.70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31904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33.35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30.49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9182976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34.05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28.43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857454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Roman-Empire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44.84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35.23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397769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71.24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62.88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003100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71.37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63.60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69849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73.65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67.20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085032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Amazon-Ratings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43.43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34.44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204671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45.47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36.94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151298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43.21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35.54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217755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42.58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27.33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1549852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 err="1">
                          <a:effectLst/>
                        </a:rPr>
                        <a:t>Minesweeper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80.00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44.44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850959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81.48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65.86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5686241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81.60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64.00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9259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82.04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65.79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2406945"/>
                  </a:ext>
                </a:extLst>
              </a:tr>
              <a:tr h="138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 err="1">
                          <a:effectLst/>
                        </a:rPr>
                        <a:t>Tolokers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77.82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46.20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134373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78.53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57.31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580306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78.22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52.70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569541"/>
                  </a:ext>
                </a:extLst>
              </a:tr>
              <a:tr h="138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78.26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44.36</a:t>
                      </a:r>
                      <a:endParaRPr lang="fr-FR" sz="1000" dirty="0">
                        <a:effectLst/>
                      </a:endParaRP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8602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906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9CAF6-82AB-4440-C8C3-95ABC2768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76B59C-B94A-D99A-9BA9-3A176E4F09A4}"/>
              </a:ext>
            </a:extLst>
          </p:cNvPr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f1-micro&amp;f1-macro  ↑-</a:t>
            </a:r>
            <a:r>
              <a:rPr lang="en-US" sz="2400" b="1" dirty="0" err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GraphSAGE</a:t>
            </a:r>
            <a:endParaRPr lang="fr-FR" dirty="0" err="1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04F52C5C-B251-2802-580A-904B06483320}"/>
              </a:ext>
            </a:extLst>
          </p:cNvPr>
          <p:cNvSpPr/>
          <p:nvPr/>
        </p:nvSpPr>
        <p:spPr>
          <a:xfrm>
            <a:off x="107994" y="4285166"/>
            <a:ext cx="8829402" cy="424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GraphSAGE1: results reported by Hamilton et al. (2017). And GraphSAGE2: results obtained from our implementation </a:t>
            </a:r>
          </a:p>
          <a:p>
            <a:pPr marL="171450" indent="-171450">
              <a:buFont typeface="Arial"/>
              <a:buChar char="•"/>
            </a:pP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Values in parentheses for Chameleon and Squirrel correspond to the results obtained after removing near-duplicate nodes</a:t>
            </a:r>
            <a:endParaRPr lang="en-US" sz="1100" dirty="0">
              <a:solidFill>
                <a:srgbClr val="64748B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4F01A5B-A953-778B-F5F0-6F33E478FDF9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05BC6C2-39CE-8925-C9F8-6946BD9A7AE5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12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3BA57A4-620A-0525-212A-2853918D4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0947874"/>
              </p:ext>
            </p:extLst>
          </p:nvPr>
        </p:nvGraphicFramePr>
        <p:xfrm>
          <a:off x="108856" y="549184"/>
          <a:ext cx="8602048" cy="373353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0872">
                  <a:extLst>
                    <a:ext uri="{9D8B030D-6E8A-4147-A177-3AD203B41FA5}">
                      <a16:colId xmlns:a16="http://schemas.microsoft.com/office/drawing/2014/main" val="647723729"/>
                    </a:ext>
                  </a:extLst>
                </a:gridCol>
                <a:gridCol w="1506928">
                  <a:extLst>
                    <a:ext uri="{9D8B030D-6E8A-4147-A177-3AD203B41FA5}">
                      <a16:colId xmlns:a16="http://schemas.microsoft.com/office/drawing/2014/main" val="2012414628"/>
                    </a:ext>
                  </a:extLst>
                </a:gridCol>
                <a:gridCol w="1695294">
                  <a:extLst>
                    <a:ext uri="{9D8B030D-6E8A-4147-A177-3AD203B41FA5}">
                      <a16:colId xmlns:a16="http://schemas.microsoft.com/office/drawing/2014/main" val="815425338"/>
                    </a:ext>
                  </a:extLst>
                </a:gridCol>
                <a:gridCol w="1548786">
                  <a:extLst>
                    <a:ext uri="{9D8B030D-6E8A-4147-A177-3AD203B41FA5}">
                      <a16:colId xmlns:a16="http://schemas.microsoft.com/office/drawing/2014/main" val="1405796441"/>
                    </a:ext>
                  </a:extLst>
                </a:gridCol>
                <a:gridCol w="2030168">
                  <a:extLst>
                    <a:ext uri="{9D8B030D-6E8A-4147-A177-3AD203B41FA5}">
                      <a16:colId xmlns:a16="http://schemas.microsoft.com/office/drawing/2014/main" val="3870727201"/>
                    </a:ext>
                  </a:extLst>
                </a:gridCol>
              </a:tblGrid>
              <a:tr h="315704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 dirty="0" err="1">
                          <a:effectLst/>
                        </a:rPr>
                        <a:t>Agg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>
                          <a:effectLst/>
                        </a:rPr>
                        <a:t>GraphSAGE1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000" b="1">
                          <a:effectLst/>
                        </a:rPr>
                        <a:t>GraphSAGE2 (%)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279596"/>
                  </a:ext>
                </a:extLst>
              </a:tr>
              <a:tr h="288251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>
                          <a:effectLst/>
                        </a:rPr>
                        <a:t>f1-micro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>
                          <a:effectLst/>
                        </a:rPr>
                        <a:t>f1-micro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fr-FR" sz="1000">
                          <a:effectLst/>
                        </a:rPr>
                        <a:t>f1-macro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679789"/>
                  </a:ext>
                </a:extLst>
              </a:tr>
              <a:tr h="260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Questions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97.05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53.32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127666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96.25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58.42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579857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96.35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58.67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842152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96.84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56.87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205976"/>
                  </a:ext>
                </a:extLst>
              </a:tr>
              <a:tr h="260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 dirty="0" err="1">
                          <a:effectLst/>
                        </a:rPr>
                        <a:t>Chameleon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40.60 (47.78)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40.68 (46.14)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518195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52.81 (51.78)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52.48 (50.00)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7767541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49.38 (55.92)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47.99 (55.47)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261530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 sz="800" dirty="0" err="1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42.94 (46.89)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41.83 (44.84)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985646"/>
                  </a:ext>
                </a:extLst>
              </a:tr>
              <a:tr h="260798">
                <a:tc rowSpan="4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Squirrel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GCN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32.81 (34.84)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30.23 (33.58)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8909418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Mean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37.20 (37.61)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36.77 (37.45)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602510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LSTM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34.38 (35.74)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33.77 (35.33)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414128"/>
                  </a:ext>
                </a:extLst>
              </a:tr>
              <a:tr h="26079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Pool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--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35.64 (38.76)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000">
                          <a:effectLst/>
                        </a:rPr>
                        <a:t>33.87 (36.40)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2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362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6250A-585F-3FBC-00C8-3D807E4E6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C93C3D-270D-A380-A0C9-3904856BB13C}"/>
              </a:ext>
            </a:extLst>
          </p:cNvPr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 &amp;f1-micro&amp;f1-macro ↑-GAT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FD47F6B-BE99-5378-2702-102676B19399}"/>
              </a:ext>
            </a:extLst>
          </p:cNvPr>
          <p:cNvSpPr/>
          <p:nvPr/>
        </p:nvSpPr>
        <p:spPr>
          <a:xfrm>
            <a:off x="548866" y="3452411"/>
            <a:ext cx="8208916" cy="555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,Sans-Serif"/>
              <a:buChar char="•"/>
            </a:pPr>
            <a:r>
              <a:rPr lang="en-US" sz="1100">
                <a:solidFill>
                  <a:srgbClr val="64748B"/>
                </a:solidFill>
                <a:ea typeface="+mn-lt"/>
                <a:cs typeface="+mn-lt"/>
              </a:rPr>
              <a:t>GAT1: results reported by Veličković et al. (2018). And GAT2: results obtained from our implementation</a:t>
            </a:r>
            <a:r>
              <a:rPr lang="en-US" sz="1100" dirty="0">
                <a:solidFill>
                  <a:srgbClr val="64748B"/>
                </a:solidFill>
                <a:ea typeface="Calibri"/>
                <a:cs typeface="Calibri"/>
              </a:rPr>
              <a:t> </a:t>
            </a:r>
            <a:endParaRPr lang="en-US" sz="1100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sz="1100">
                <a:solidFill>
                  <a:srgbClr val="64748B"/>
                </a:solidFill>
                <a:ea typeface="Calibri"/>
                <a:cs typeface="Calibri"/>
              </a:rPr>
              <a:t>Values in parentheses correspond to results after removing near-duplicate nodes for Chameleon and Squirrel.</a:t>
            </a:r>
            <a:endParaRPr lang="en-US" sz="1100">
              <a:solidFill>
                <a:srgbClr val="000000"/>
              </a:solidFill>
              <a:ea typeface="Calibri"/>
              <a:cs typeface="Calibri"/>
            </a:endParaRPr>
          </a:p>
          <a:p>
            <a:endParaRPr lang="en-US" sz="1050" b="1" i="1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E8B8288-DBF4-D1E0-B19D-4B8FB207ABDE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ABAAAC4-6B63-D52A-CE8F-69F7669E76AF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13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07EA2AA-F77E-2F96-E1D2-1EE0B5948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6372007"/>
              </p:ext>
            </p:extLst>
          </p:nvPr>
        </p:nvGraphicFramePr>
        <p:xfrm>
          <a:off x="573314" y="552087"/>
          <a:ext cx="7981984" cy="27179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72416">
                  <a:extLst>
                    <a:ext uri="{9D8B030D-6E8A-4147-A177-3AD203B41FA5}">
                      <a16:colId xmlns:a16="http://schemas.microsoft.com/office/drawing/2014/main" val="2661132021"/>
                    </a:ext>
                  </a:extLst>
                </a:gridCol>
                <a:gridCol w="1577392">
                  <a:extLst>
                    <a:ext uri="{9D8B030D-6E8A-4147-A177-3AD203B41FA5}">
                      <a16:colId xmlns:a16="http://schemas.microsoft.com/office/drawing/2014/main" val="348524807"/>
                    </a:ext>
                  </a:extLst>
                </a:gridCol>
                <a:gridCol w="1577392">
                  <a:extLst>
                    <a:ext uri="{9D8B030D-6E8A-4147-A177-3AD203B41FA5}">
                      <a16:colId xmlns:a16="http://schemas.microsoft.com/office/drawing/2014/main" val="3982007334"/>
                    </a:ext>
                  </a:extLst>
                </a:gridCol>
                <a:gridCol w="1577392">
                  <a:extLst>
                    <a:ext uri="{9D8B030D-6E8A-4147-A177-3AD203B41FA5}">
                      <a16:colId xmlns:a16="http://schemas.microsoft.com/office/drawing/2014/main" val="1259983299"/>
                    </a:ext>
                  </a:extLst>
                </a:gridCol>
                <a:gridCol w="1577392">
                  <a:extLst>
                    <a:ext uri="{9D8B030D-6E8A-4147-A177-3AD203B41FA5}">
                      <a16:colId xmlns:a16="http://schemas.microsoft.com/office/drawing/2014/main" val="645167618"/>
                    </a:ext>
                  </a:extLst>
                </a:gridCol>
              </a:tblGrid>
              <a:tr h="285388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GAT1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GAT2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256650"/>
                  </a:ext>
                </a:extLst>
              </a:tr>
              <a:tr h="25685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acc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acc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f1-micro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f1-macro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618329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Cora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83.00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83.40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83.40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82.35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2790987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 err="1">
                          <a:effectLst/>
                        </a:rPr>
                        <a:t>Citeseer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72.50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73.20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73.20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67.38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765495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PubMed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79.00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863437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Cornell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45.40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45.40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15.37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404274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Texas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55.36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55.36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14.25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535289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Wisconsin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52.99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52.99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20.61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791451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 err="1">
                          <a:effectLst/>
                        </a:rPr>
                        <a:t>Chameleon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57.40 (57.20)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57.40 (57.20)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55.53 (55.45)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916098"/>
                  </a:ext>
                </a:extLst>
              </a:tr>
              <a:tr h="2425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Squirrel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36.03 (36.95)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36.03 (36.95)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31.05 (35.56)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038854"/>
                  </a:ext>
                </a:extLst>
              </a:tr>
              <a:tr h="235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Actor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26.96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26.96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13.59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938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6033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0E0B2A-29E7-99B6-2FF5-5503A1A47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61D30A2-C0DE-0A1A-C7EE-87FCA8DD0D50}"/>
              </a:ext>
            </a:extLst>
          </p:cNvPr>
          <p:cNvSpPr/>
          <p:nvPr/>
        </p:nvSpPr>
        <p:spPr>
          <a:xfrm>
            <a:off x="548640" y="2177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Results — Accuracy&amp;f1-micro&amp;f1-macro ↑-GIN</a:t>
            </a:r>
            <a:endParaRPr lang="fr-FR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7C5D157-5EFC-2FF2-4105-3A188F64AC9E}"/>
              </a:ext>
            </a:extLst>
          </p:cNvPr>
          <p:cNvSpPr/>
          <p:nvPr/>
        </p:nvSpPr>
        <p:spPr>
          <a:xfrm>
            <a:off x="456337" y="4110995"/>
            <a:ext cx="8083730" cy="604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GIN1: results reported by Xu et al. (2019) using GIN-ε with ε = 0</a:t>
            </a: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GIN2: results obtained from our implementation using 10-fold cross-validation.</a:t>
            </a:r>
          </a:p>
          <a:p>
            <a:pPr marL="171450" indent="-171450">
              <a:buFont typeface="Arial"/>
              <a:buChar char="•"/>
            </a:pP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Reported values correspond to the mean performance ± standard deviation over the folds</a:t>
            </a:r>
            <a:endParaRPr lang="en-US" sz="1050" dirty="0">
              <a:solidFill>
                <a:srgbClr val="64748B"/>
              </a:solidFill>
              <a:ea typeface="Calibri"/>
              <a:cs typeface="Calibri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C8EBEFA-FE5A-4CB6-0BF0-32D4EDBF33C2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055A791-F102-2A38-09C9-1A629D32545A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  14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4973CEC-1DB8-AC65-B473-B3B323D81E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545799"/>
              </p:ext>
            </p:extLst>
          </p:nvPr>
        </p:nvGraphicFramePr>
        <p:xfrm>
          <a:off x="335643" y="553176"/>
          <a:ext cx="7560627" cy="34584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3615">
                  <a:extLst>
                    <a:ext uri="{9D8B030D-6E8A-4147-A177-3AD203B41FA5}">
                      <a16:colId xmlns:a16="http://schemas.microsoft.com/office/drawing/2014/main" val="967853123"/>
                    </a:ext>
                  </a:extLst>
                </a:gridCol>
                <a:gridCol w="1479253">
                  <a:extLst>
                    <a:ext uri="{9D8B030D-6E8A-4147-A177-3AD203B41FA5}">
                      <a16:colId xmlns:a16="http://schemas.microsoft.com/office/drawing/2014/main" val="245104007"/>
                    </a:ext>
                  </a:extLst>
                </a:gridCol>
                <a:gridCol w="1479253">
                  <a:extLst>
                    <a:ext uri="{9D8B030D-6E8A-4147-A177-3AD203B41FA5}">
                      <a16:colId xmlns:a16="http://schemas.microsoft.com/office/drawing/2014/main" val="1537595320"/>
                    </a:ext>
                  </a:extLst>
                </a:gridCol>
                <a:gridCol w="1479253">
                  <a:extLst>
                    <a:ext uri="{9D8B030D-6E8A-4147-A177-3AD203B41FA5}">
                      <a16:colId xmlns:a16="http://schemas.microsoft.com/office/drawing/2014/main" val="2295410110"/>
                    </a:ext>
                  </a:extLst>
                </a:gridCol>
                <a:gridCol w="1479253">
                  <a:extLst>
                    <a:ext uri="{9D8B030D-6E8A-4147-A177-3AD203B41FA5}">
                      <a16:colId xmlns:a16="http://schemas.microsoft.com/office/drawing/2014/main" val="2248136380"/>
                    </a:ext>
                  </a:extLst>
                </a:gridCol>
              </a:tblGrid>
              <a:tr h="362143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 dirty="0" err="1">
                          <a:effectLst/>
                        </a:rPr>
                        <a:t>Dataset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b="1">
                          <a:effectLst/>
                        </a:rPr>
                        <a:t>GIN1 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2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GIN2 (%)</a:t>
                      </a:r>
                      <a:endParaRPr lang="fr-FR" b="1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695095"/>
                  </a:ext>
                </a:extLst>
              </a:tr>
              <a:tr h="32592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 err="1">
                          <a:effectLst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 dirty="0" err="1">
                          <a:effectLst/>
                        </a:rPr>
                        <a:t>Accuracy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F1-micro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F1-macro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27256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MUTAG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89.4 ± 5.6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93.04 ± 4.90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93.04 ± 4.90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92.39 ± 5.17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098929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PTC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64.6 ± 7.0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72.08 ± 4.93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72.08 ± 4.93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69.69 ± 6.83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171503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NCI1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82.7 ± 1.7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78.03 ± 1.48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78.03 ± 1.48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78.01 ± 1.48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1940439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PROTEINS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76.2 ± 2.8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79.51 ± 3.31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79.51 ± 3.31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78.49 ± 2.94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147504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IMDBBINARY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75.1 ± 5.1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74.80 ± 2.44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74.80 ± 2.44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74.59 ± 2.29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59698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IMDBMULTI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52.3 ± 2.8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50.73 ± 1.59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50.73 ± 1.59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48.57 ± 2.84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578749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REDDITBINARY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92.4 ± 2.5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78.20 ± 1.95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78.20 ± 1.95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78.15 ± 1.96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175976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COLLAB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80.2 ± 1.9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98619"/>
                  </a:ext>
                </a:extLst>
              </a:tr>
              <a:tr h="307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REDDIT-MULTI5K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57.5 ± 1.5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200">
                          <a:effectLst/>
                        </a:rPr>
                        <a:t>-- ± --</a:t>
                      </a:r>
                      <a:endParaRPr lang="fr-FR" sz="1200" dirty="0">
                        <a:effectLst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402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677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05E723-A5A9-9793-D123-79F83E7F1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5DC6BE-3E54-98BE-7AC8-F2B839B95595}"/>
              </a:ext>
            </a:extLst>
          </p:cNvPr>
          <p:cNvSpPr/>
          <p:nvPr/>
        </p:nvSpPr>
        <p:spPr>
          <a:xfrm>
            <a:off x="145869" y="334191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>
                <a:solidFill>
                  <a:srgbClr val="0F2B46"/>
                </a:solidFill>
                <a:latin typeface="Georgia"/>
                <a:ea typeface="+mn-lt"/>
                <a:cs typeface="+mn-lt"/>
              </a:rPr>
              <a:t>Comparative Study of Three GNNs</a:t>
            </a:r>
            <a:endParaRPr lang="fr-FR" b="1">
              <a:latin typeface="Georgia"/>
            </a:endParaRPr>
          </a:p>
          <a:p>
            <a:pPr algn="ctr"/>
            <a:endParaRPr lang="en-US" sz="2400" b="1" dirty="0">
              <a:solidFill>
                <a:srgbClr val="0F2B46"/>
              </a:solidFill>
              <a:latin typeface="Georgia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58F0ACF9-726C-C4D3-D253-37D847A768F0}"/>
              </a:ext>
            </a:extLst>
          </p:cNvPr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2B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7A125E-B0F0-B4EE-B54B-7863E1CE288D}"/>
              </a:ext>
            </a:extLst>
          </p:cNvPr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dirty="0">
                <a:solidFill>
                  <a:srgbClr val="94A3B8"/>
                </a:solidFill>
                <a:ea typeface="Calibri"/>
                <a:cs typeface="Calibri"/>
              </a:rPr>
              <a:t>GNNs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  </a:t>
            </a:r>
            <a:r>
              <a:rPr lang="en-US" sz="900">
                <a:solidFill>
                  <a:schemeClr val="bg1"/>
                </a:solidFill>
                <a:ea typeface="Calibri"/>
                <a:cs typeface="Calibri"/>
              </a:rPr>
              <a:t>  15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073FD16A-5DB3-32CC-3D42-1964F9E36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2048549"/>
              </p:ext>
            </p:extLst>
          </p:nvPr>
        </p:nvGraphicFramePr>
        <p:xfrm>
          <a:off x="321128" y="723899"/>
          <a:ext cx="8687455" cy="393593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491">
                  <a:extLst>
                    <a:ext uri="{9D8B030D-6E8A-4147-A177-3AD203B41FA5}">
                      <a16:colId xmlns:a16="http://schemas.microsoft.com/office/drawing/2014/main" val="2464406341"/>
                    </a:ext>
                  </a:extLst>
                </a:gridCol>
                <a:gridCol w="1737491">
                  <a:extLst>
                    <a:ext uri="{9D8B030D-6E8A-4147-A177-3AD203B41FA5}">
                      <a16:colId xmlns:a16="http://schemas.microsoft.com/office/drawing/2014/main" val="2668818049"/>
                    </a:ext>
                  </a:extLst>
                </a:gridCol>
                <a:gridCol w="1737491">
                  <a:extLst>
                    <a:ext uri="{9D8B030D-6E8A-4147-A177-3AD203B41FA5}">
                      <a16:colId xmlns:a16="http://schemas.microsoft.com/office/drawing/2014/main" val="3422231045"/>
                    </a:ext>
                  </a:extLst>
                </a:gridCol>
                <a:gridCol w="1737491">
                  <a:extLst>
                    <a:ext uri="{9D8B030D-6E8A-4147-A177-3AD203B41FA5}">
                      <a16:colId xmlns:a16="http://schemas.microsoft.com/office/drawing/2014/main" val="1265382073"/>
                    </a:ext>
                  </a:extLst>
                </a:gridCol>
                <a:gridCol w="1737491">
                  <a:extLst>
                    <a:ext uri="{9D8B030D-6E8A-4147-A177-3AD203B41FA5}">
                      <a16:colId xmlns:a16="http://schemas.microsoft.com/office/drawing/2014/main" val="820627313"/>
                    </a:ext>
                  </a:extLst>
                </a:gridCol>
              </a:tblGrid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 err="1"/>
                        <a:t>Criterion</a:t>
                      </a:r>
                      <a:endParaRPr lang="fr-FR" sz="9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GCN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 err="1"/>
                        <a:t>GraphSAGE</a:t>
                      </a:r>
                      <a:endParaRPr lang="fr-FR" sz="9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GAT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/>
                        <a:t>GIN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01195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Original </a:t>
                      </a:r>
                      <a:r>
                        <a:rPr lang="fr-FR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learning</a:t>
                      </a:r>
                      <a:r>
                        <a:rPr lang="fr-FR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setting</a:t>
                      </a:r>
                      <a:endParaRPr lang="fr-FR" sz="900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Transductive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Inductive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Transductive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Graph  and  Node classification</a:t>
                      </a:r>
                      <a:endParaRPr lang="fr-FR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940598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Aggregation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Normalized</a:t>
                      </a:r>
                      <a:r>
                        <a:rPr lang="fr-FR" sz="900" dirty="0"/>
                        <a:t> </a:t>
                      </a:r>
                      <a:r>
                        <a:rPr lang="fr-FR" sz="900" dirty="0" err="1"/>
                        <a:t>mean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Mean / Max / LSTM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Attention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Injective </a:t>
                      </a:r>
                      <a:r>
                        <a:rPr lang="fr-FR" sz="900" dirty="0" err="1"/>
                        <a:t>sum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368711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/>
                        <a:t>Attention </a:t>
                      </a:r>
                      <a:r>
                        <a:rPr lang="fr-FR" sz="900" dirty="0" err="1"/>
                        <a:t>mechanism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✓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643598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MLP </a:t>
                      </a:r>
                      <a:r>
                        <a:rPr lang="fr-FR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after</a:t>
                      </a:r>
                      <a:r>
                        <a:rPr lang="fr-FR" sz="900" b="0" i="0" u="none" strike="noStrike" noProof="0" dirty="0">
                          <a:latin typeface="Calibri"/>
                          <a:ea typeface="Calibri"/>
                          <a:cs typeface="Calibri"/>
                        </a:rPr>
                        <a:t> </a:t>
                      </a:r>
                      <a:r>
                        <a:rPr lang="fr-FR" sz="900" b="0" i="0" u="none" strike="noStrike" noProof="0" dirty="0" err="1">
                          <a:latin typeface="Calibri"/>
                          <a:ea typeface="Calibri"/>
                          <a:cs typeface="Calibri"/>
                        </a:rPr>
                        <a:t>aggregation</a:t>
                      </a:r>
                      <a:endParaRPr lang="fr-FR" dirty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✗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✓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758224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dirty="0" err="1"/>
                        <a:t>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Medium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High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Low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Medium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995329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Training speed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Fast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Very fast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Slow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Medium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96892"/>
                  </a:ext>
                </a:extLst>
              </a:tr>
              <a:tr h="491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Expressive power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Medium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Medium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/>
                        <a:t>High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900" b="1" dirty="0" err="1"/>
                        <a:t>Highest</a:t>
                      </a:r>
                      <a:r>
                        <a:rPr lang="fr-FR" sz="900" b="1" dirty="0"/>
                        <a:t> (1-WL)</a:t>
                      </a:r>
                      <a:endParaRPr lang="fr-FR" sz="9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070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29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46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800" b="1">
                <a:solidFill>
                  <a:srgbClr val="FFFFFF"/>
                </a:solidFill>
                <a:latin typeface="Georgia"/>
                <a:ea typeface="+mn-lt"/>
                <a:cs typeface="+mn-lt"/>
              </a:rPr>
              <a:t>Thank you for your attention</a:t>
            </a:r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1828800" cy="54864"/>
          </a:xfrm>
          <a:prstGeom prst="rect">
            <a:avLst/>
          </a:prstGeom>
          <a:solidFill>
            <a:srgbClr val="22D3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2222</Words>
  <Application>Microsoft Office PowerPoint</Application>
  <PresentationFormat>Affichage à l'écran (16:9)</PresentationFormat>
  <Paragraphs>530</Paragraphs>
  <Slides>19</Slides>
  <Notes>19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0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GraphRAG Multimodal — Documentation MRO</dc:title>
  <dc:subject>PptxGenJS Presentation</dc:subject>
  <dc:creator>Benali, Ouchene, Ouedraogo</dc:creator>
  <cp:lastModifiedBy>Souhil OUCHENE</cp:lastModifiedBy>
  <cp:revision>3998</cp:revision>
  <dcterms:created xsi:type="dcterms:W3CDTF">2026-03-18T19:33:11Z</dcterms:created>
  <dcterms:modified xsi:type="dcterms:W3CDTF">2026-07-22T08:48:13Z</dcterms:modified>
</cp:coreProperties>
</file>